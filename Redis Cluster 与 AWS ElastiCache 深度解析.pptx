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.svg" ContentType="image/svg+xml"/>
  <Override PartName="/ppt/media/image112.svg" ContentType="image/svg+xml"/>
  <Override PartName="/ppt/media/image114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2.svg" ContentType="image/svg+xml"/>
  <Override PartName="/ppt/media/image124.svg" ContentType="image/svg+xml"/>
  <Override PartName="/ppt/media/image126.svg" ContentType="image/svg+xml"/>
  <Override PartName="/ppt/media/image128.svg" ContentType="image/svg+xml"/>
  <Override PartName="/ppt/media/image13.svg" ContentType="image/svg+xml"/>
  <Override PartName="/ppt/media/image130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7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8.svg" ContentType="image/svg+xml"/>
  <Override PartName="/ppt/media/image9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92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大家好，欢迎参加本次分享。今天我们将深入探讨 Redis Cluster 和 AWS ElastiCache。我们将从 Redis Cluster 的底层原理讲起，然后过渡到 AWS ElastiCache 的云端实战，希望能为大家提供一份全面而深入的技术参考。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大家好，欢迎参加本次分享。今天我们将深入探讨现代应用架构中至关重要的两个组件：Redis Cluster 和 AWS ElastiCache。我们将从底层原理出发，一步步解析它们的工作机制，并结合实际案例，为大家提供一份从理论到实践的全方位指南。希望通过这次分享，能帮助大家更好地理解和应用分布式缓存技术。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本次分享将分为两大章节。第一章，我们将深入解析 Redis Cluster 的内部工作原理，包括其架构、Gossip协议、哈希槽、高可用机制等。第二章，我们将聚焦于 AWS ElastiCache，探讨其作为托管服务的优势、架构、企业级特性以及在实际应用中的最佳实践。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现在，我们正式进入第一章，深入探索 Redis Cluster 的内部世界。我们将从它的整体架构开始，一步步揭开其神秘面纱。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 的第一个核心特点是它的去中心化模型。这意味着集群中没有一个“老大”节点来管理其他所有节点。所有节点都是平等的，它们通过一种叫做Gossip的协议互相交流，共享信息。这种设计非常健壮，因为即使有个别节点出问题，整个集群依然能够正常运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集群中，节点有两种角色：主节点和从节点。主节点负责处理读写请求，而从节点则是主节点的备份。同时，每个节点都像一个信息中心，保存着整个集群的“地图”，这份地图就是集群元数据，它记录了所有节点的信息以及数据是如何分布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这些节点是如何交流的呢？它们使用的是Gossip协议。你可以把它想象成办公室里的八卦。每个节点每秒都会随机找几个同事聊聊天（发送PING），同事会回复自己的状态（PONG）。通过这种方式，任何节点的状态变化，比如加入或离开，都会迅速传遍整个集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ossip协议主要通过四种消息类型来传递信息：MEET用于新朋友加入，PING是日常问候，PONG是回复，FAIL则是宣布某个节点“失联”了。这种传播机制非常高效，它通过随机采样和信息老化，在保证信息准确的同时，又不会给网络带来太大负担，最终实现了整个集群状态的一致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接下来我们看数据是如何分布的。Redis Cluster使用了哈希槽机制。它把整个数据空间分成了16384个槽。当一个key进来时，通过CRC16算法计算出它属于哪个槽，然后这个key就会被存储到负责该槽的主节点上。就像这张图展示的，不同的主节点负责不同范围的槽位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需要扩容或缩容时，就需要进行槽位迁移。这个过程是在线的，不会影响业务。简单来说，就是先标记好要迁移的槽，然后源节点把这个槽里的key一个个搬到目标节点，最后通知大家这个槽换主人了。整个过程非常平滑，对应用完全透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Redis Cluster如何知道一个节点挂了呢？它有一个两步确认机制。首先，一个节点如果长时间没收到另一个节点的回复，会先主观地认为它可能下线了（PFAIL）。然后，它会把这个消息告诉其他主节点。当超过半数的主节点都确认这个节点有问题时，它就会被正式标记为客观下线（FAIL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旦一个主节点被确认下线，它的从节点们就会立刻开始选举，看谁来接替主节点的位置。这个选举过程借鉴了Raft算法，非常公平。每个从节点都会向其他主节点拉票，谁先拿到超过半数的选票，谁就胜出，成为新的主节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选举出获胜者后，故障转移就开始了。新主节点会宣布自己上位，并接管所有工作。其他节点也会更新自己的“地图”，知道以后该跟谁打交道。整个过程一气呵成，完全自动，确保了服务的连续性。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客户端在访问集群时，可能会遇到两种重定向错误。MOVED 表示你访问的槽位已经永久搬家了，请更新你的地址簿。ASK 则表示槽位正在搬家，你要找的key现在临时在邻居家，你可以临时去那儿找找，但别更新地址簿。智能客户端能够正确处理这两种情况。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由于数据分布在不同节点，Redis Cluster默认不支持跨节点的多键操作。但我们可以通过哈希标签来绕过这个限制。方法就是在key里加上花括号，Redis只会对花括号里的内容计算哈希。这样，像user:{123}:profile和user:{123}:settings这样的相关key就会被放到同一个节点上，从而可以执行事务等操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事务和Lua脚本也受到同样的限制：所有涉及的key必须在同一个节点。这意味着，如果你想在一个事务里操作多个key，或者在一个Lua脚本里访问多个key，你必须确保它们都通过哈希标签被放到了同一个哈希槽里。否则，Redis会拒绝执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在运维方面，部署一个健壮的Redis Cluster至少需要3个主节点，并且每个主节点都要有从节点。关键的配置参数包括启用集群模式和设置节点超时时间。监控方面，我们可以通过CLUSTER INFO和CLUSTER NODES命令了解集群和节点状态，通过INFO命令查看详细的性能指标。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运维过程中，我们可能会遇到一些常见问题。比如数据倾斜，某个节点压力特别大，这通常是因为热点key导致的，需要优化key的设计。还有网络分区，集群被分成了好几块，这时候需要检查网络配置。另外，在线迁移时可能会有短暂的性能抖动，最好在业务低峰期进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好的，第一章我们深入了解了Redis Cluster的底层原理。现在，我们进入第二章，看看在AWS云上，如何通过ElastiCache这项托管服务来更轻松地使用Redis。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ElastiCache？简单来说，它就是AWS提供的Redis或Memcached托管服务。我们不用再关心底层的服务器、运维和故障处理，只需专注于使用缓存服务。它的核心价值在于提供了开箱即用的高性能、高可用性、弹性伸缩和企业级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的另一个巨大优势是它能与AWS的其他服务无缝集成。它可以作为EC2上应用的缓存，减轻RDS数据库的压力，与DynamoDB配合使用，通过CloudWatch进行监控，备份存储在S3中，甚至可以在Lambda无服务器架构中使用。这种深度集成大大简化了我们的架构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在使用ElastiCache之前，我们需要选择一个引擎。ElastiCache支持Redis OSS、它的开源分支Valkey，以及Memcached。这张表格对比了它们的主要特性。简单来说，Redis和Valkey功能丰富，支持持久化和高可用；而Memcached则非常轻量，适合简单的键值缓存。Valkey在成本上通常更有优势。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那么如何选择呢？如果你的应用需要复杂的数据结构、持久化或高可用，那么Redis OSS或Valkey是你的不二之选。如果你对成本敏感，Valkey是一个非常好的选择。如果你的需求非常简单，就是一个高速的键值缓存，那么Memcached可能更适合你。总的来说，对于大多数场景，我们推荐使用Redis或Valkey。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Redis，ElastiCache提供了两种部署模式。第一种是“集群模式禁用”，如左图所示，它本质上是一个带多个副本的单节点。这种模式适合数据量不大，但需要执行跨多个key的原子操作的场景，因为它没有分布式的限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第二种模式是“集群模式启用”，如右图所示。这就是我们前面讲的Redis Cluster的托管版本。它将数据分片存储在多个节点上，支持水平扩展，能够应对大规模的应用场景。它完全兼容原生Redis Cluster的协议，所以我们现有的客户端几乎不需要修改就能直接使用。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的企业级特性首先体现在高可用性上。我们可以将主节点和副本节点部署在不同的可用区，这样即使整个机房出问题，服务也能自动切换。当主节点故障时，故障转移过程完全自动，通常在几秒内就能完成，保证了业务的连续性，并提供99.99%的可用性承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管理方面，ElastiCache提供了完善的备份和恢复机制。我们可以配置自动备份，将快照存储在S3中，确保数据安全。也可以随时手动创建快照，用于数据迁移或灾备。同时，它支持RDB和AOF两种持久化方式，可以根据业务需求灵活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弹性伸缩是ElastiCache的另一大亮点。我们可以手动调整节点数量，也可以设置自动扩展策略。例如，当CPU利用率超过80%时，自动增加分片数量；当利用率低于30%时，自动减少分片数量。这样可以确保我们的资源既能满足业务高峰的需求，又不会在业务低谷时造成浪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觉得自动扩展还不够方便，ElastiCache还提供了无服务器（Serverless）选项。这是一种终极的弹性方案。我们不需要管理任何服务器，只需指定缓存名称，服务就会根据负载自动、即时地扩展或收缩。我们只需为实际使用的资源付费，彻底告别容量规划的烦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成本优化方面，ElastiCache提供了数据分层功能。对于那些大部分数据不常访问的场景，它可以自动将冷数据从昂贵的内存移到便宜的SSD中，而热数据仍然留在内存中以保证性能。这对于符合80/20访问模式的工作负载非常有效，可以大幅降低存储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全性是企业级应用的重中之重。ElastiCache提供了全面的安全特性，包括数据传输和存储的加密、通过IAM进行访问控制、传统的密码认证，以及通过VPC进行网络隔离。这些特性确保了我们的数据在传输和存储过程中的安全，并且符合各种行业合规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这张表格清晰地对比了使用托管的ElastiCache和自己搭建Redis Cluster的区别。核心差异在于运维负担、成本模型和SLA保障。ElastiCache将所有复杂的运维工作自动化，让我们可以更专注于业务开发，代价是按需付费。而自建虽然更灵活，但需要投入大量的人力进行运维和保障。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lastiCache的应用场景非常广泛。最经典的场景包括：作为数据库的前端缓存，大幅减轻数据库压力；存储用户会话信息，实现分布式应用的会话共享；以及利用其有序集合数据结构，轻松实现高并发的实时排行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经典场景，ElastiCache在现代应用和AI领域也发挥着重要作用。例如，我们可以用它来实现API的速率限制。更令人兴奋的是，在AI领域，它可以作为语义缓存，大幅降低大模型的调用成本；也可以作为向量数据库，在RAG架构中提供高效的知识库检索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一些最佳实践。在部署上，生产环境一定要使用Multi-AZ。在性能调优方面，要根据工作负载选择合适的节点类型，启用副本读取来分担读压力，并优化键的设计。同时，要密切监控慢查询，及时发现并优化性能瓶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监控和告警是保障服务稳定运行的关键。我们需要重点监控CPU、内存、网络流量、缓存命中率和键驱逐率这些核心指标。并在CloudWatch中为这些指标设置合理的告警阈值，以便在问题发生前及时收到通知。同时，启用日志监控可以帮助我们快速定位问题根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我的分享到此结束，感谢大家的聆听。现在是问答环节，欢迎大家提问。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4.png"/><Relationship Id="rId7" Type="http://schemas.openxmlformats.org/officeDocument/2006/relationships/image" Target="../media/image13.svg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5.svg"/><Relationship Id="rId10" Type="http://schemas.openxmlformats.org/officeDocument/2006/relationships/image" Target="../media/image14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image" Target="../media/image29.svg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7.svg"/><Relationship Id="rId14" Type="http://schemas.openxmlformats.org/officeDocument/2006/relationships/image" Target="../media/image6.png"/><Relationship Id="rId13" Type="http://schemas.openxmlformats.org/officeDocument/2006/relationships/image" Target="../media/image35.svg"/><Relationship Id="rId12" Type="http://schemas.openxmlformats.org/officeDocument/2006/relationships/image" Target="../media/image34.png"/><Relationship Id="rId11" Type="http://schemas.openxmlformats.org/officeDocument/2006/relationships/image" Target="../media/image33.svg"/><Relationship Id="rId10" Type="http://schemas.openxmlformats.org/officeDocument/2006/relationships/image" Target="../media/image32.pn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6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8.svg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svg"/><Relationship Id="rId8" Type="http://schemas.openxmlformats.org/officeDocument/2006/relationships/image" Target="../media/image55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5" Type="http://schemas.openxmlformats.org/officeDocument/2006/relationships/notesSlide" Target="../notesSlides/notesSlide1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9.svg"/><Relationship Id="rId12" Type="http://schemas.openxmlformats.org/officeDocument/2006/relationships/image" Target="../media/image58.png"/><Relationship Id="rId11" Type="http://schemas.openxmlformats.org/officeDocument/2006/relationships/image" Target="../media/image57.svg"/><Relationship Id="rId10" Type="http://schemas.openxmlformats.org/officeDocument/2006/relationships/image" Target="../media/image56.png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3.svg"/><Relationship Id="rId6" Type="http://schemas.openxmlformats.org/officeDocument/2006/relationships/image" Target="../media/image62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Relationship Id="rId3" Type="http://schemas.openxmlformats.org/officeDocument/2006/relationships/image" Target="../media/image38.svg"/><Relationship Id="rId2" Type="http://schemas.openxmlformats.org/officeDocument/2006/relationships/image" Target="../media/image59.png"/><Relationship Id="rId1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70.png"/><Relationship Id="rId7" Type="http://schemas.openxmlformats.org/officeDocument/2006/relationships/image" Target="../media/image69.svg"/><Relationship Id="rId6" Type="http://schemas.openxmlformats.org/officeDocument/2006/relationships/image" Target="../media/image68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5" Type="http://schemas.openxmlformats.org/officeDocument/2006/relationships/notesSlide" Target="../notesSlides/notesSlide17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72.svg"/><Relationship Id="rId12" Type="http://schemas.openxmlformats.org/officeDocument/2006/relationships/image" Target="../media/image71.png"/><Relationship Id="rId11" Type="http://schemas.openxmlformats.org/officeDocument/2006/relationships/image" Target="../media/image5.svg"/><Relationship Id="rId10" Type="http://schemas.openxmlformats.org/officeDocument/2006/relationships/image" Target="../media/image55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6.svg"/><Relationship Id="rId6" Type="http://schemas.openxmlformats.org/officeDocument/2006/relationships/image" Target="../media/image75.png"/><Relationship Id="rId5" Type="http://schemas.openxmlformats.org/officeDocument/2006/relationships/image" Target="../media/image65.svg"/><Relationship Id="rId4" Type="http://schemas.openxmlformats.org/officeDocument/2006/relationships/image" Target="../media/image64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svg"/><Relationship Id="rId8" Type="http://schemas.openxmlformats.org/officeDocument/2006/relationships/image" Target="../media/image83.png"/><Relationship Id="rId7" Type="http://schemas.openxmlformats.org/officeDocument/2006/relationships/image" Target="../media/image82.svg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9.svg"/><Relationship Id="rId10" Type="http://schemas.openxmlformats.org/officeDocument/2006/relationships/image" Target="../media/image68.png"/><Relationship Id="rId1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svg"/><Relationship Id="rId8" Type="http://schemas.openxmlformats.org/officeDocument/2006/relationships/image" Target="../media/image89.png"/><Relationship Id="rId7" Type="http://schemas.openxmlformats.org/officeDocument/2006/relationships/image" Target="../media/image88.svg"/><Relationship Id="rId6" Type="http://schemas.openxmlformats.org/officeDocument/2006/relationships/image" Target="../media/image87.png"/><Relationship Id="rId5" Type="http://schemas.openxmlformats.org/officeDocument/2006/relationships/image" Target="../media/image11.svg"/><Relationship Id="rId4" Type="http://schemas.openxmlformats.org/officeDocument/2006/relationships/image" Target="../media/image86.png"/><Relationship Id="rId3" Type="http://schemas.openxmlformats.org/officeDocument/2006/relationships/image" Target="../media/image9.svg"/><Relationship Id="rId2" Type="http://schemas.openxmlformats.org/officeDocument/2006/relationships/image" Target="../media/image85.png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4.svg"/><Relationship Id="rId12" Type="http://schemas.openxmlformats.org/officeDocument/2006/relationships/image" Target="../media/image93.png"/><Relationship Id="rId11" Type="http://schemas.openxmlformats.org/officeDocument/2006/relationships/image" Target="../media/image92.svg"/><Relationship Id="rId10" Type="http://schemas.openxmlformats.org/officeDocument/2006/relationships/image" Target="../media/image91.png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94.svg"/><Relationship Id="rId4" Type="http://schemas.openxmlformats.org/officeDocument/2006/relationships/image" Target="../media/image93.png"/><Relationship Id="rId3" Type="http://schemas.openxmlformats.org/officeDocument/2006/relationships/image" Target="../media/image11.svg"/><Relationship Id="rId2" Type="http://schemas.openxmlformats.org/officeDocument/2006/relationships/image" Target="../media/image86.png"/><Relationship Id="rId1" Type="http://schemas.openxmlformats.org/officeDocument/2006/relationships/image" Target="../media/image3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4.svg"/><Relationship Id="rId7" Type="http://schemas.openxmlformats.org/officeDocument/2006/relationships/image" Target="../media/image93.png"/><Relationship Id="rId6" Type="http://schemas.openxmlformats.org/officeDocument/2006/relationships/image" Target="../media/image99.svg"/><Relationship Id="rId5" Type="http://schemas.openxmlformats.org/officeDocument/2006/relationships/image" Target="../media/image98.png"/><Relationship Id="rId4" Type="http://schemas.openxmlformats.org/officeDocument/2006/relationships/image" Target="../media/image97.svg"/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0" Type="http://schemas.openxmlformats.org/officeDocument/2006/relationships/notesSlide" Target="../notesSlides/notesSlide24.xml"/><Relationship Id="rId1" Type="http://schemas.openxmlformats.org/officeDocument/2006/relationships/image" Target="../media/image3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5.png"/><Relationship Id="rId7" Type="http://schemas.openxmlformats.org/officeDocument/2006/relationships/image" Target="../media/image72.svg"/><Relationship Id="rId6" Type="http://schemas.openxmlformats.org/officeDocument/2006/relationships/image" Target="../media/image71.png"/><Relationship Id="rId5" Type="http://schemas.openxmlformats.org/officeDocument/2006/relationships/image" Target="../media/image29.svg"/><Relationship Id="rId4" Type="http://schemas.openxmlformats.org/officeDocument/2006/relationships/image" Target="../media/image100.png"/><Relationship Id="rId3" Type="http://schemas.openxmlformats.org/officeDocument/2006/relationships/image" Target="../media/image5.svg"/><Relationship Id="rId2" Type="http://schemas.openxmlformats.org/officeDocument/2006/relationships/image" Target="../media/image55.png"/><Relationship Id="rId10" Type="http://schemas.openxmlformats.org/officeDocument/2006/relationships/notesSlide" Target="../notesSlides/notesSlide25.xml"/><Relationship Id="rId1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3.svg"/><Relationship Id="rId4" Type="http://schemas.openxmlformats.org/officeDocument/2006/relationships/image" Target="../media/image102.png"/><Relationship Id="rId3" Type="http://schemas.openxmlformats.org/officeDocument/2006/relationships/image" Target="../media/image7.svg"/><Relationship Id="rId2" Type="http://schemas.openxmlformats.org/officeDocument/2006/relationships/image" Target="../media/image101.png"/><Relationship Id="rId1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105.svg"/><Relationship Id="rId4" Type="http://schemas.openxmlformats.org/officeDocument/2006/relationships/image" Target="../media/image104.png"/><Relationship Id="rId3" Type="http://schemas.openxmlformats.org/officeDocument/2006/relationships/image" Target="../media/image97.svg"/><Relationship Id="rId2" Type="http://schemas.openxmlformats.org/officeDocument/2006/relationships/image" Target="../media/image96.png"/><Relationship Id="rId1" Type="http://schemas.openxmlformats.org/officeDocument/2006/relationships/image" Target="../media/image3.jpeg"/></Relationships>
</file>

<file path=ppt/slides/_rels/slide2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8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07.svg"/><Relationship Id="rId4" Type="http://schemas.openxmlformats.org/officeDocument/2006/relationships/image" Target="../media/image106.png"/><Relationship Id="rId3" Type="http://schemas.openxmlformats.org/officeDocument/2006/relationships/image" Target="../media/image69.svg"/><Relationship Id="rId2" Type="http://schemas.openxmlformats.org/officeDocument/2006/relationships/image" Target="../media/image68.png"/><Relationship Id="rId1" Type="http://schemas.openxmlformats.org/officeDocument/2006/relationships/image" Target="../media/image3.jpe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10.png"/><Relationship Id="rId7" Type="http://schemas.openxmlformats.org/officeDocument/2006/relationships/image" Target="../media/image109.svg"/><Relationship Id="rId6" Type="http://schemas.openxmlformats.org/officeDocument/2006/relationships/image" Target="../media/image108.png"/><Relationship Id="rId5" Type="http://schemas.openxmlformats.org/officeDocument/2006/relationships/image" Target="../media/image99.svg"/><Relationship Id="rId4" Type="http://schemas.openxmlformats.org/officeDocument/2006/relationships/image" Target="../media/image98.png"/><Relationship Id="rId3" Type="http://schemas.openxmlformats.org/officeDocument/2006/relationships/image" Target="../media/image107.svg"/><Relationship Id="rId2" Type="http://schemas.openxmlformats.org/officeDocument/2006/relationships/image" Target="../media/image106.png"/><Relationship Id="rId10" Type="http://schemas.openxmlformats.org/officeDocument/2006/relationships/notesSlide" Target="../notesSlides/notesSlide29.xml"/><Relationship Id="rId1" Type="http://schemas.openxmlformats.org/officeDocument/2006/relationships/image" Target="../media/image3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0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9.svg"/><Relationship Id="rId6" Type="http://schemas.openxmlformats.org/officeDocument/2006/relationships/image" Target="../media/image108.png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image" Target="../media/image3.jpe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svg"/><Relationship Id="rId8" Type="http://schemas.openxmlformats.org/officeDocument/2006/relationships/image" Target="../media/image115.png"/><Relationship Id="rId7" Type="http://schemas.openxmlformats.org/officeDocument/2006/relationships/image" Target="../media/image114.svg"/><Relationship Id="rId6" Type="http://schemas.openxmlformats.org/officeDocument/2006/relationships/image" Target="../media/image113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84.svg"/><Relationship Id="rId2" Type="http://schemas.openxmlformats.org/officeDocument/2006/relationships/image" Target="../media/image83.png"/><Relationship Id="rId15" Type="http://schemas.openxmlformats.org/officeDocument/2006/relationships/notesSlide" Target="../notesSlides/notesSlide3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118.svg"/><Relationship Id="rId12" Type="http://schemas.openxmlformats.org/officeDocument/2006/relationships/image" Target="../media/image117.png"/><Relationship Id="rId11" Type="http://schemas.openxmlformats.org/officeDocument/2006/relationships/image" Target="../media/image65.svg"/><Relationship Id="rId10" Type="http://schemas.openxmlformats.org/officeDocument/2006/relationships/image" Target="../media/image64.png"/><Relationship Id="rId1" Type="http://schemas.openxmlformats.org/officeDocument/2006/relationships/image" Target="../media/image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0.svg"/><Relationship Id="rId6" Type="http://schemas.openxmlformats.org/officeDocument/2006/relationships/image" Target="../media/image119.png"/><Relationship Id="rId5" Type="http://schemas.openxmlformats.org/officeDocument/2006/relationships/image" Target="../media/image114.svg"/><Relationship Id="rId4" Type="http://schemas.openxmlformats.org/officeDocument/2006/relationships/image" Target="../media/image113.png"/><Relationship Id="rId3" Type="http://schemas.openxmlformats.org/officeDocument/2006/relationships/image" Target="../media/image11.svg"/><Relationship Id="rId2" Type="http://schemas.openxmlformats.org/officeDocument/2006/relationships/image" Target="../media/image86.png"/><Relationship Id="rId1" Type="http://schemas.openxmlformats.org/officeDocument/2006/relationships/image" Target="../media/image3.jpe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101.png"/><Relationship Id="rId5" Type="http://schemas.openxmlformats.org/officeDocument/2006/relationships/image" Target="../media/image122.svg"/><Relationship Id="rId4" Type="http://schemas.openxmlformats.org/officeDocument/2006/relationships/image" Target="../media/image121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" Type="http://schemas.openxmlformats.org/officeDocument/2006/relationships/image" Target="../media/image3.jpe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4.svg"/><Relationship Id="rId8" Type="http://schemas.openxmlformats.org/officeDocument/2006/relationships/image" Target="../media/image123.png"/><Relationship Id="rId7" Type="http://schemas.openxmlformats.org/officeDocument/2006/relationships/image" Target="../media/image112.svg"/><Relationship Id="rId6" Type="http://schemas.openxmlformats.org/officeDocument/2006/relationships/image" Target="../media/image111.png"/><Relationship Id="rId5" Type="http://schemas.openxmlformats.org/officeDocument/2006/relationships/image" Target="../media/image9.svg"/><Relationship Id="rId4" Type="http://schemas.openxmlformats.org/officeDocument/2006/relationships/image" Target="../media/image85.png"/><Relationship Id="rId3" Type="http://schemas.openxmlformats.org/officeDocument/2006/relationships/image" Target="../media/image5.svg"/><Relationship Id="rId2" Type="http://schemas.openxmlformats.org/officeDocument/2006/relationships/image" Target="../media/image55.png"/><Relationship Id="rId17" Type="http://schemas.openxmlformats.org/officeDocument/2006/relationships/notesSlide" Target="../notesSlides/notesSlide35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57.svg"/><Relationship Id="rId14" Type="http://schemas.openxmlformats.org/officeDocument/2006/relationships/image" Target="../media/image56.png"/><Relationship Id="rId13" Type="http://schemas.openxmlformats.org/officeDocument/2006/relationships/image" Target="../media/image126.svg"/><Relationship Id="rId12" Type="http://schemas.openxmlformats.org/officeDocument/2006/relationships/image" Target="../media/image125.png"/><Relationship Id="rId11" Type="http://schemas.openxmlformats.org/officeDocument/2006/relationships/image" Target="../media/image65.svg"/><Relationship Id="rId10" Type="http://schemas.openxmlformats.org/officeDocument/2006/relationships/image" Target="../media/image64.png"/><Relationship Id="rId1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0.svg"/><Relationship Id="rId6" Type="http://schemas.openxmlformats.org/officeDocument/2006/relationships/image" Target="../media/image129.png"/><Relationship Id="rId5" Type="http://schemas.openxmlformats.org/officeDocument/2006/relationships/image" Target="../media/image128.svg"/><Relationship Id="rId4" Type="http://schemas.openxmlformats.org/officeDocument/2006/relationships/image" Target="../media/image127.png"/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2.png"/><Relationship Id="rId2" Type="http://schemas.openxmlformats.org/officeDocument/2006/relationships/image" Target="../media/image2.jpeg"/><Relationship Id="rId1" Type="http://schemas.openxmlformats.org/officeDocument/2006/relationships/image" Target="../media/image1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1143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与 AWS ElastiCache 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419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从底层原理到云端实战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88000" y="5270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02895" y="123063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225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与 AWS ElastiCache</a:t>
            </a:r>
            <a:b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52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43815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600" b="0" i="0" u="none" strike="noStrike" spc="100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从原理到实战的全方位指南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5461000"/>
            <a:ext cx="1016000" cy="381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77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2026年8月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Redis Cluster 深度解析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384">
            <a:off x="762008" y="272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086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3048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深度架构：去中心化节点通信与数据分片的底层逻辑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721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3683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核心机制：Gossip 协议与 16384 哈希槽的动态分配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356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318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高可用：故障自动转移、主从切换与数据一致性保障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91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4953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运维实战：集群监控指标体系、性能调优与扩容策略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AWS ElastiCache 实战指南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8384">
            <a:off x="6223008" y="272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223000" y="3086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3048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服务全景：Redis 与 Memcached 引擎选型与场景适配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721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13500" y="3683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托管优势：多可用区部署、自动备份与故障自愈能力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356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13500" y="4318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企业特性：传输加密、Redis AUTH 认证与 VPC 网络隔离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991100"/>
            <a:ext cx="50800" cy="2286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413500" y="4953000"/>
            <a:ext cx="5016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最佳实践：电商高并发、游戏排行榜与实时分析场景落地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78500"/>
            <a:ext cx="10668000" cy="12700"/>
          </a:xfrm>
          <a:prstGeom prst="roundRect">
            <a:avLst>
              <a:gd name="adj" fmla="val 0"/>
            </a:avLst>
          </a:prstGeom>
          <a:solidFill>
            <a:srgbClr val="2D2D2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从分布式缓存的核心原理到云端托管服务的高效应用，全方位掌握现代缓存架构体系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第一章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深度解析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82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cap="flat" cmpd="sng">
            <a:solidFill>
              <a:srgbClr val="C0001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270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从去中心化架构到数据分片机制，全方位探索高性能分布式缓存的运行原理与核心奥秘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1.1 深度架构解析：去中心化模型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68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235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无中心节点 · 平等共治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内无管理节点与数据节点之分，所有节点地位完全对等，均存储完整的集群元数据（包含节点状态、哈希槽映射关系等）。这种设计彻底消除了架构上的单点依赖，确保任何单个节点的离线都不会导致集群元数据的丢失或管理瘫痪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968500"/>
            <a:ext cx="5207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22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10400" y="22352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对等通信 · Gossip 协议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节点间通过 Gossip 流言协议进行异步通信，随机交换状态信息，最终达成集群视图的一致性。无需集中式的调度与广播，极大降低了节点间的通信开销，赋予了集群极佳的水平扩展能力与容错性，适应大规模分布式部署场景。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762500"/>
            <a:ext cx="76200" cy="15240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38200" y="4762500"/>
            <a:ext cx="10591800" cy="15240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92200" y="4953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架构优势：从高可用到弹性伸缩的全面保障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92200" y="5397500"/>
            <a:ext cx="1003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去中心化架构是 Redis Cluster 实现高可用的基石，它避免了传统主从模式下的单点故障（SPOF）风险。同时，无中心的设计使得集群可以轻松线性扩展，无论是增加节点以提升吞吐量，还是动态缩容，都能在不影响服务的前提下平滑完成，完美契合云原生时代对系统弹性的要求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1.1 深度架构解析：节点角色与元数据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节点角色分工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9464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主节点 (Master)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集群的核心读写枢纽，负责处理客户端的所有读写请求，并独立管理一部分哈希槽数据，是数据存储与业务响应的第一责任人。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4248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4470400"/>
            <a:ext cx="431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 (Replica)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主节点的热备与高可用保障，实时异步复制主节点数据。当主节点故障时，通过Raft算法自动选举升级为主节点，实现秒级故障转移。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1905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集群元数据核心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9845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921500" y="29464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全量节点档案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记录所有节点的ID、IP端口、角色身份及健康状态，是节点间自动发现与通信的基础目录。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9370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8989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 哈希槽映射表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维护数据分片的核心规则，定义了每个哈希槽对应的负责节点，是实现数据分布式存储与快速路由的关键。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8895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48514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配置纪元 (Config Epoch)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单调递增的版本号，用于解决集群配置变更冲突，确保所有节点同步到最新的集群拓扑视图。</a:t>
            </a:r>
            <a:endParaRPr lang="en-US" sz="1300" b="0" i="0" u="none" strike="noStrike">
              <a:solidFill>
                <a:srgbClr val="50505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1.2 Gossip协议详解：工作流程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Gossip协议是Redis Cluster实现去中心化通信的核心机制，它模仿现实中的“流言传播”模式，通过节点间高频、随机的通信，让集群状态像涟漪一样快速同步，确保了去中心化架构下的信息一致性与高可用性。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8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984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随机选择通信节点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671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每个节点每秒随机挑选少量节点（通常为3个）发起通信，这种随机机制避免了固定拓扑的网络瓶颈，保障了去中心化的特性。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279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98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48500" y="29845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发送 PING 探测消息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4671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发起节点向目标节点发送PING包，不仅包含自身状态，还会“捎带”集群中其他随机节点的状态数据，实现高效的信息传播。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508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87500" y="4699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回复 PONG 状态响应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181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被PING的节点立即回复PONG消息，包含自身完整的元数据（如槽位分配、节点标识、主从角色等），确保信息的完整性。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45085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99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46990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实时更新集群元数据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51816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接收节点解析并比对消息中的状态差异，自动更新本地维护的集群视图。通过这种持续的扩散，整个集群最终达成状态一致。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1.2 Gossip协议详解：消息类型与传播机制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核心消息类型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730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MEET · 发现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主动向集群广播新节点的加入信息，建立节点间的通信握手与拓扑感知。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29000" y="25400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273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00500" y="27305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PING · 探测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19500" y="3175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周期性发送的心跳探测包，用于检测目标节点是否在线，维持集群活性。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254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445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33500" y="4445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PONG · 响应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52500" y="4889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对PING或MEET的确认回复，附带节点的最新状态数据，实现状态同步。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3429000" y="4254500"/>
            <a:ext cx="2476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9500" y="444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4000500" y="4445000"/>
            <a:ext cx="190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FAIL · 故障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619500" y="48895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当节点被判定为客观下线(FAIL)时，向集群广播此消息，快速同步故障。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1778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高效传播机制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350000" y="254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40500" y="2794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2667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随机采样 (Random Sampling)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每次通信仅与少量随机节点交换信息，而非全网广播。这种方式有效控制了网络带宽消耗，避免了“广播风暴”，同时保证了信息的快速扩散。</a:t>
            </a:r>
            <a:endParaRPr lang="en-US" sz="1300" b="0" i="0" u="none" strike="noStrike">
              <a:solidFill>
                <a:srgbClr val="4B4B4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0" y="381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40640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048500" y="3937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信息老化 (Gossip Expiration)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每个节点状态都带有时间戳，系统会定期清理长时间未更新的状态信息。这防止了集群中留存过时或错误的节点视图，确保状态的时效性。</a:t>
            </a:r>
            <a:endParaRPr lang="en-US" sz="1300" b="0" i="0" u="none" strike="noStrike">
              <a:solidFill>
                <a:srgbClr val="4B4B4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50000" y="5080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53340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048500" y="5207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最终一致性 (Eventual Consistency)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通过节点间持续不断的随机信息交换，尽管存在网络延迟或节点故障，整个集群最终会达成一致的状态视图，这是分布式系统中高效且可靠的一致性保障。</a:t>
            </a:r>
            <a:endParaRPr lang="en-US" sz="1300" b="0" i="0" u="none" strike="noStrike">
              <a:solidFill>
                <a:srgbClr val="4B4B4B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1.3 哈希槽机制深度剖析：计算与分配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79" r="79"/>
          <a:stretch>
            <a:fillRect/>
          </a:stretch>
        </p:blipFill>
        <p:spPr>
          <a:xfrm>
            <a:off x="3429000" y="1651000"/>
            <a:ext cx="5334000" cy="2286000"/>
          </a:xfrm>
          <a:prstGeom prst="rect">
            <a:avLst/>
          </a:prstGeom>
          <a:noFill/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438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/ 哈希槽计算原理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48514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将整个键空间预划分为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16384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个固定哈希槽。当写入键值时，Redis 执行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CRC16(key) % 16384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算法，计算出该键所属的槽位，这是实现数据自动分片的核心数学基础。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419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4381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/ 槽位分配与管理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4851400"/>
            <a:ext cx="4889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集群中的每个主节点负责处理一部分连续或离散的槽位，单槽在稳定状态下仅归属一个主节点。支持通过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 ADDSLOTS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等命令手动干预，也可在节点加入或退出时自动触发槽位重平衡与迁移。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1.3 哈希槽机制深度剖析：在线迁移流程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034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在线迁移是 Redis 集群弹性伸缩的核心，它在</a:t>
            </a: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不中断服务</a:t>
            </a:r>
            <a:r>
              <a:rPr lang="en-US" sz="15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的前提下，将哈希槽从源节点平滑迁移至目标节点，对客户端完全透明，实现无缝的集群扩缩容。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22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022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01. 标记迁移状态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92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源节点将目标槽位标记为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MIGRATING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（迁出中），目标节点同步标记为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IMPORTING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（迁入中），双向锁定确保路由准确，防止数据丢失。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226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022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02. 原子化迁移键值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3492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源节点遍历该槽下所有键，通过</a:t>
            </a:r>
            <a:r>
              <a:rPr lang="en-US" sz="1300" b="1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MIGRATE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命令将键逐个原子性地移动到目标节点，保证数据的完整性，期间服务持续可用。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736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673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03. 广播槽位新归属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数据迁移完成后，通过集群 Gossip 协议向所有节点广播该哈希槽的新节点归属信息，确保全集群元数据状态的一致性。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44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6736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673600"/>
            <a:ext cx="419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04. 全局映射生效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51435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所有节点更新本地的槽位映射表，完成迁移闭环。后续客户端请求将直接路由至新的负责节点，实现真正的无缝迁移。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1.4 高可用机制全流程：故障检测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通过一套严谨的“双重确认”故障检测机制来发现并确认失效节点，这是保障集群高可用性与数据安全的核心基础，有效避免了因网络抖动或单点误判导致的服务异常。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304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主观下线 (PFAIL)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61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810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当节点在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cluster-node-timeout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（默认15秒）内未收到目标节点的 PONG 响应时，会将其标记为“主观下线”。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这是节点的本地独立判断，可能因网络抖动或临时阻塞出现误判，因此仅作为故障检测的第一步，不直接触发故障转移。</a:t>
            </a:r>
            <a:endParaRPr lang="en-US" sz="14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794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048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59600" y="3048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客观下线 (FAIL)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3613150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810000"/>
            <a:ext cx="4699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当集群中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超过半数的主节点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都将某主节点标记为 PFAIL 后，该节点会被正式判定为“客观下线”。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此状态通过 Gossip 协议在集群内全网广播，触发后续的故障转移（Failover）流程，选举新的主节点以恢复集群完整性。</a:t>
            </a:r>
            <a:endParaRPr lang="en-US" sz="14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842000"/>
            <a:ext cx="10668000" cy="6096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59436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4001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核心逻辑：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从“单点的本地怀疑”升级为“集群的共识确认”，这种双重验证机制是避免误判、保证集群稳定性的关键。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1.4 高可用机制全流程：领导者选举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当主节点被标记为 FAIL 后，其从节点将立即触发领导者选举流程。该过程借鉴 Raft 算法思想，通过多轮协商与投票，从候选节点中推选出新的主节点，确保集群服务的连续性与数据一致性。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资格筛选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只有满足“数据复制最完整、网络连接正常、运行状态稳定”的从节点，才能获得成为候选人的资格，从源头保证新主节点的数据完整性。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79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3048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投票表决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遵循“先到先得”原则，每个节点拥有一票表决权，且仅能投给第一个向其发起投票请求的合法候选者，确保每一票的有效性与唯一性。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51800" y="2794000"/>
            <a:ext cx="3378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3048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3048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赢得选举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3619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当候选节点获得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超过半数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的有效选票时，即刻胜出并晋升为新主节点。其余从节点自动切换角色，开始向新主节点同步数据，快速恢复集群读写能力。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5245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核心保障：</a:t>
            </a:r>
            <a:r>
              <a:rPr lang="en-US" sz="1400" b="0" i="0" u="none" strike="noStrike">
                <a:solidFill>
                  <a:srgbClr val="373737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基于“多数派共识”原则，该机制能严格保证在任意网络分区或故障场景下，集群中最多只有一个节点能成功当选，彻底杜绝“脑裂”风险，是实现 Redis 高可用与数据强一致性的基石。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1.4 高可用机制全流程：自动故障转移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095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651000" y="2032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故障状态检测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集群节点间通过心跳机制持续通信，当主节点超时无响应时，会被集群标记为 FAIL（故障）状态。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3492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3429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发起领导者选举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故障主节点的所有从节点中，优先级最高的节点向集群发起选举请求，其他主节点进行投票表决。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952500" y="4889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651000" y="4826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从节点晋升为主节点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赢得选举的从节点执行 `SLAVEOF NO ONE` 命令，正式脱离从属状态，成为新的主节点。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905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095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112000" y="2032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广播与槽位接管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新主节点通过 Gossip 协议向全集群广播身份变更，并接管原主节点负责的所有哈希槽。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3302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413500" y="3492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3429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全集群状态同步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所有节点更新本地的槽位映射表与节点拓扑信息，确保后续客户端请求能被正确路由。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6990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413500" y="4889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0" y="4826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原主节点的角色转换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原主节点恢复上线后，会自动发现新主节点，并执行 `SLAVEOF` 命令，成为其从节点进行数据同步。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62000" y="6159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▶ 整个过程完全自动化，无需人工干预，保障了服务的高可用性与数据的一致性。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1.5 客户端交互：MOVED与ASK重定向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重定向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254000" cy="254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022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场景：槽位永久迁移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客户端访问的哈希槽已从当前节点永久转移，原节点不再负责该数据的存储与响应。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8481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本质：永久性指令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这是一个最终状态的通知，意味着映射关系发生了长期变化，需更新本地配置。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699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67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动作：更新映射并重试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立即刷新本地槽位映射表，后续对该槽位的所有请求将直接发往目标节点。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5207000" cy="3365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2032000"/>
            <a:ext cx="5207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23114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ASK 重定向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291">
            <a:off x="6477009" y="2851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048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022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场景：槽位迁移过程中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数据正在从源节点向目标节点迁移，当前请求的键值对临时存在于目标节点上。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873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38481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本质：临时性转发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仅针对当前这一次请求的临时指引，不代表槽位归属的最终状态。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6990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858000" y="4673600"/>
            <a:ext cx="444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动作：ASKING 握手后重试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先发送 ASKING 命令解锁目标节点，再重试原请求；</a:t>
            </a:r>
            <a:r>
              <a:rPr lang="en-US" sz="1300" b="0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不更新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本地映射表。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6515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D9001B">
              <a:alpha val="7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952500" y="5753100"/>
            <a:ext cx="10414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核心区别：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MOVED 是“改地址”（永久更新路由表），ASK 是“临时借用”（不改路由表）。Redis 智能客户端能自动处理这两种情况，对业务层完全透明，确保了集群的高可用性。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1.6 高级特性：哈希标签 (Hash Tag)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Cluster 默认不支持跨槽的多键操作，而哈希标签（Hash Tag）是实现多键原子操作的唯一解决方案，通过特殊的键名设计强制相关键落在同一哈希槽。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04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307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核心原理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613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810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若键名包含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{}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符号，Redis 计算哈希槽时，仅对大括号之间的字符进行哈希运算，忽略括号外的内容。这是实现键“归拢”的关键机制，让原本会分散的键强制落在同一节点。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304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168900" y="307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应用示例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211">
            <a:off x="4660914" y="3613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60900" y="3810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键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user:{123}:profile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与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user:{123}:settings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会被映射到同一哈希槽。因为大括号内的“123”是相同的哈希计算因子，从而打破了默认的单键分散规则，实现多键同槽。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51800" y="2794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3048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13800" y="307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11">
            <a:off x="8305814" y="3613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05800" y="3810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当需要执行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MGET、MSET、事务或Lua脚本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等跨键原子操作时，必须通过哈希标签将所有涉及的键强制路由到同一节点，否则会抛出跨槽错误，导致操作失败。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1.6 高级特性：事务与Lua脚本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⚠️ 核心限制：操作键必须归属同一哈希槽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10160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受限于Redis Cluster的分布式架构，事务块或Lua脚本中涉及的所有Key必须映射到</a:t>
            </a:r>
            <a:r>
              <a:rPr lang="en-US" sz="1400" b="1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同一个哈希槽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。若违反此规则，Redis将拒绝执行并返回错误，无法保证跨槽操作的原子性。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6195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🔗 事务执行 (MULTI / EXEC)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03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在事务块内，所有待执行的命令操作必须仅涉及单一哈希槽的Key。这是Redis Cluster保证事务原子性的必要前提，不支持跨节点的事务处理。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3429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477000" y="36195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📜 Lua 脚本安全校验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403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脚本中访问的所有Key必须通过`KEYS`数组显式传递，禁止在脚本内部动态拼接Key。Redis会在执行前强制校验所有Key是否同槽，非法脚本将被直接拦截。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12700" cap="flat" cmpd="sng">
            <a:solidFill>
              <a:srgbClr val="D9001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486400"/>
            <a:ext cx="1016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破局方案：哈希标签 (Hash Tags)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8674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`{tag}` 结构强制关联Key：Redis仅计算`{}`内字符串的哈希值。例如将关联Key命名为 `order:{1001}:detail` 与 `order:{1001}:log`，即可确保它们被分配到同一个哈希槽中。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1.7 运维与调优：部署配置与监控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部署与配置核心规范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167">
            <a:off x="10160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8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9464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集群规模基线：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至少需要3个主节点以保障集群健壮性，这是实现数据分片、故障自动转移的基础条件。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989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高可用主从架构：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为每个主节点配置至少1个从节点，实现读写分离，同时在主节点故障时快速进行故障转移。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149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关键配置参数：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启用集群模式 `cluster-enabled yes`；设置节点超时时间 `cluster-node-timeout 15000`（15秒），确保脑裂与故障检测的及时性。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59500" y="1905000"/>
            <a:ext cx="52705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159000"/>
            <a:ext cx="476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运维监控与指标观测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167">
            <a:off x="64135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858000" y="29464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集群状态总览：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执行 `CLUSTER INFO` 命令，快速查看集群的整体状态、槽位分配情况、节点数量及故障转移状态。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937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3898900"/>
            <a:ext cx="444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节点状态诊断：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使用 `CLUSTER NODES` 命令，获取所有节点的ID、角色（主/从）、IP端口、连接状态及复制偏移量。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495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4914900"/>
            <a:ext cx="444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核心性能透视：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`INFO stats` 和 `INFO memory` 查看QPS吞吐量、内存使用率、键值命中率、客户端连接数等关键指标，实时掌握负载。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1.7 运维与调优：常见问题与解决方案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368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98600" y="2336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数据倾斜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特定哈希槽访问频率极高，导致个别节点负载过载，成为集群性能瓶颈，拖慢整体响应。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191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破局方案：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优化Key设计避免热点；使用哈希标签打散流量；横向扩容增加节点分摊压力；引入本地缓存削峰。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3368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30800" y="2336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网络分区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482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482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集群被物理分割为多个子网，节点间心跳中断，导致脑裂风险，数据一致性受损。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48200" y="4191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破局方案：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排查防火墙与网络策略；合理配置 cluster-node-timeout；启用哨兵机制监控；必要时手动介入恢复。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26400" y="2032000"/>
            <a:ext cx="33782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3368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763000" y="2336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迁移性能抖动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280414" y="2851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280400" y="3048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在线迁移期间，源节点与目标节点的IO和CPU资源竞争，引发服务延迟或吞吐量波动。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280400" y="41910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破局方案：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选择业务低峰期执行；配置限速参数控制迁移速度；升级Redis版本利用更优的迁移算法。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5842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52500" y="5842000"/>
            <a:ext cx="10287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运维洞察：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建立全链路监控体系，实时追踪节点负载与网络状态，将被动运维转变为主动预警，是保障Redis集群高可用的关键。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第二章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ElastiCache 实战指南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953000"/>
            <a:ext cx="10160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cap="flat" cmpd="sng">
            <a:solidFill>
              <a:srgbClr val="C00018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5334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从原理剖析到云端部署的全方位实践与架构优化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2.1 服务全景：定义与核心价值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30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核心定义：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ElastiCache 是一项全托管的内存缓存服务，兼容 Redis OSS、Valkey 和 Memcached 协议。它旨在简化分布式缓存的部署、管理和扩展，消除了硬件采购、补丁更新、故障恢复等繁琐的运维工作，让您能够专注于应用程序的性能优化与业务创新。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429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594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极致高性能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提供亚毫秒级的低延迟响应，为实时游戏、广告竞价等高并发场景提供极速数据访问能力。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3429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361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3594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持续高可用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720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支持多可用区(Multi-AZ)部署与自动故障转移，配合读副本架构，保障业务连续性与数据持久性。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3429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3619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572500" y="3594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动态弹性伸缩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91500" y="40386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支持手动或基于策略的自动扩缩容，秒级调整节点规格，从容应对电商大促等突发流量洪峰。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33500" y="52451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04 企业级安全合规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52500" y="56896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提供传输中(TLS)与静态数据加密，集成AWS VPC网络隔离与IAM权限管控，全面符合PCI DSS等合规标准。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159500" y="5080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5270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31000" y="52451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05 全托管运维体验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5689600"/>
            <a:ext cx="4889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AWS负责底层硬件维护、补丁更新与故障修复。您可通过控制台、CLI或SDK轻松管理，大幅降低运维负担。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2.1 服务全景：与AWS生态集成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 与 AWS 核心服务深度融合，构建起高性能、高可用的云端应用架构，实现从计算、存储到监控的全方位协同。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279400" cy="279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705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EC2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作为应用服务器的本地缓存层，与 EC2 上的应用程序紧密配合，大幅降低数据访问延迟，提升动态应用的响应速度。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540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7305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53000" y="2705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RDS / Aurora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充当关系型数据库的高性能前端缓存，有效分担数据库的高频读请求，减少数据库负载，保障核心业务稳定。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540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7305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572500" y="2705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DynamoDB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91500" y="317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DAX 提供微秒级低延迟访问，为 DynamoDB 提供强一致性的高速缓存，支撑高并发的键值存储场景。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445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355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33500" y="4610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CloudWatch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25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实时监控缓存集群的性能指标，包括命中率、延迟、内存使用率等，支持自定义告警，全方位保障缓存层健康。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381500" y="4445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46355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953000" y="4610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Amazon S3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5720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用于安全、持久地存储 ElastiCache 的自动备份快照，支持跨区域复制与快速恢复，增强系统的容灾能力。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001000" y="4445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191500" y="4635500"/>
            <a:ext cx="279400" cy="279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8572500" y="4610100"/>
            <a:ext cx="279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 Lambda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91500" y="5080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A5A5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为无服务器架构提供高速缓存支持，作为 Lambda 函数的临时数据层，完美适配弹性伸缩的无状态计算场景。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2.2 引擎选择指南：特性对比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89000" y="2032000"/>
            <a:ext cx="3213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OSS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587">
            <a:off x="889013" y="2660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889000" y="2857500"/>
            <a:ext cx="32131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功能最丰富，生态最成熟的主流选择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结构：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支持字符串、哈希、列表等多种复杂结构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可靠：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支持RDB/AOF持久化与主从高可用架构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能力：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提供事务、Lua脚本、Pub/Sub等高级特性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会话存储、实时排行榜、复杂业务逻辑缓存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3561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83100" y="2032000"/>
            <a:ext cx="3213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Valkey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3587">
            <a:off x="4483113" y="2660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483100" y="2857500"/>
            <a:ext cx="32131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Redis开源分支，高兼容且成本更优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兼容：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与Redis OSS API完全一致，可无缝迁移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引入多线程I/O模型，吞吐量表现更优异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通常拥有更具竞争力的定价与运营成本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寻求高性价比、高性能的Redis替代方案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950200" y="1778000"/>
            <a:ext cx="34671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77200" y="2032000"/>
            <a:ext cx="32131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Memcached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587">
            <a:off x="8077213" y="2660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077200" y="2857500"/>
            <a:ext cx="3213100" cy="298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核心定位：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极致轻量，专注于简单的高并发读写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结构：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仅支持简单的键值对（字符串类型）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纯内存、多线程模型，不支持数据持久化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扩展：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依赖客户端实现分片，无原生集群支持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•</a:t>
            </a:r>
            <a:r>
              <a:rPr lang="en-US" sz="1300" b="1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场景：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基础缓存、临时会话存储、高并发简单缓存</a:t>
            </a:r>
            <a:endParaRPr lang="en-US" sz="1300" b="0" i="0" u="none" strike="noStrike">
              <a:solidFill>
                <a:srgbClr val="6B7280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2.2 引擎选择指南：选择建议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OSS 或 Valkey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194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需要复杂数据结构（如列表、哈希、有序集合）、事务或 Lua 脚本支持；依赖数据持久化与高可用性保障。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功能生态极其丰富，支持多种业务场景；Valkey 作为开源替代方案，拥有更低的使用成本和完全的社区可控性。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21500" y="215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Memcached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8194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适用场景：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仅需简单的键值对缓存，且对并发读写吞吐量有极致要求；或既有系统已深度依赖 Memcached 协议，需平滑迁移。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核心优势：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极致轻量，协议简单；单线程模型下能实现极高的并发处理能力，是纯缓存加速的轻量之选。</a:t>
            </a:r>
            <a:endParaRPr lang="en-US" sz="1400" b="0" i="0" u="none" strike="noStrike">
              <a:solidFill>
                <a:srgbClr val="4B5563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5080000"/>
            <a:ext cx="10668000" cy="1206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5080000"/>
            <a:ext cx="76200" cy="12065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79500" y="52324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💡 总结建议：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对于绝大多数现代应用，</a:t>
            </a: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OSS 或 Valkey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是更优选择，能兼顾功能丰富度、可靠性与扩展性。仅在“纯简单键值缓存 + 极致吞吐”的极简场景下，Memcached 才会成为更轻量的备选方案。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2.3 ElastiCache for Redis 架构：集群模式禁用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503" r="1503"/>
          <a:stretch>
            <a:fillRect/>
          </a:stretch>
        </p:blipFill>
        <p:spPr>
          <a:xfrm>
            <a:off x="762000" y="1905000"/>
            <a:ext cx="457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0005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图示左侧即为单分片复制组架构：所有数据键值对映射到唯一的哈希槽区间（0-16383），构成一个不可再分的独立数据单元，架构简单且易于管理。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270500"/>
            <a:ext cx="4572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5397500"/>
            <a:ext cx="431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核心特性总结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2424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数据集中存储，无跨分片延迟；支持完整的Redis原生命令集，是对事务和脚本有强需求场景的理想选择。</a:t>
            </a:r>
            <a:endParaRPr lang="en-US" sz="1300" b="0" i="0" u="none" strike="noStrike">
              <a:solidFill>
                <a:srgbClr val="424242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715000" y="1905000"/>
            <a:ext cx="5842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CDCD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5905500" y="2032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单分片复制组架构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05500" y="2476500"/>
            <a:ext cx="546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这是一种非集群化的部署模式，整个复制组仅包含一个节点组（分片）。该分片由一个可处理写入的主节点和最多5个只读副本节点构成，所有Redis数据全量存储于该分片，不存在跨分片的数据分布。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715000" y="3810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核心适用场景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715000" y="4318000"/>
            <a:ext cx="5842000" cy="660400"/>
          </a:xfrm>
          <a:prstGeom prst="roundRect">
            <a:avLst>
              <a:gd name="adj" fmla="val 0"/>
            </a:avLst>
          </a:prstGeom>
          <a:solidFill>
            <a:srgbClr val="F8F8F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45085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223000" y="4394200"/>
            <a:ext cx="5270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数据体量轻量：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业务数据总量能完全装入单个Redis节点的内存，无需进行分片拆分即可承载。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715000" y="5080000"/>
            <a:ext cx="5842000" cy="660400"/>
          </a:xfrm>
          <a:prstGeom prst="roundRect">
            <a:avLst>
              <a:gd name="adj" fmla="val 0"/>
            </a:avLst>
          </a:prstGeom>
          <a:solidFill>
            <a:srgbClr val="F8F8F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42000" y="52705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223000" y="5156200"/>
            <a:ext cx="5270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强原子性需求：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依赖跨多键的事务、复杂Lua脚本执行，规避集群模式下的多键操作限制。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715000" y="5842000"/>
            <a:ext cx="5842000" cy="660400"/>
          </a:xfrm>
          <a:prstGeom prst="roundRect">
            <a:avLst>
              <a:gd name="adj" fmla="val 0"/>
            </a:avLst>
          </a:prstGeom>
          <a:solidFill>
            <a:srgbClr val="F8F8F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42000" y="60325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223000" y="5918200"/>
            <a:ext cx="52705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弹性读扩展：</a:t>
            </a: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读取请求密集型业务，通过横向增加只读副本节点，线性提升系统的读吞吐量。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2.3 ElastiCache for Redis 架构：集群模式启用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222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2184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自动分片，高可用扩展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667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将数据自动分布到多个节点组（分片），每分片均为主从复制架构。单集群最多支持500个分片，轻松突破单节点容量限制。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46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708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兼容原生 Redis Cluster 协议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191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采用标准的16384哈希槽分片机制，与开源版本完全兼容。现有客户端（如Jedis、Lettuce）无需大幅修改即可直接接入。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334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270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232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海量吞吐与TB级数据集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7150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专为超大规模应用设计，解决单节点内存瓶颈。支持读写性能的水平线性扩展，完美适配电商大促、实时风控等高并发场景。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1013" r="1013"/>
          <a:stretch>
            <a:fillRect/>
          </a:stretch>
        </p:blipFill>
        <p:spPr>
          <a:xfrm>
            <a:off x="6604000" y="2032000"/>
            <a:ext cx="5080000" cy="2095500"/>
          </a:xfrm>
          <a:prstGeom prst="rect">
            <a:avLst/>
          </a:prstGeom>
          <a:noFill/>
          <a:ln w="25400" cap="flat" cmpd="sng">
            <a:solidFill>
              <a:srgbClr val="D9001B">
                <a:alpha val="2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604000" y="4572000"/>
            <a:ext cx="5080000" cy="1841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94500" y="4762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架构优势总结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794500" y="514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通过数据分片实现存储与性能的双重线性扩展。AWS 负责自动化的节点监控、故障检测与替换，让您专注于应用层的业务逻辑，而非底层的集群运维。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企业级特性详解：高可用性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Multi-AZ 多可用区容灾部署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21000"/>
            <a:ext cx="4762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主节点与副本节点分散部署在物理隔离的不同可用区（AZ）中，从基础设施层面消除单点故障。当某一AZ因断电、网络中断等原因不可用时，其他AZ内的节点可立即接管服务，确保数据持久性与业务连续性，是构建高可用架构的基础保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86500" y="1905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159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023100" y="2159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全自动故障检测与秒级转移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167">
            <a:off x="6540508" y="2724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540500" y="2921000"/>
            <a:ext cx="4762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系统持续监控节点健康状态，主节点故障时自动将健康的副本节点提升为新主节点，切换过程通常在数秒内完成。应用程序无需修改代码，仅需重新建立连接即可恢复访问，并提供高达99.99%的服务可用性SLA承诺，确保业务零中断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207000"/>
            <a:ext cx="10795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cap="flat" cmpd="sng">
            <a:solidFill>
              <a:srgbClr val="C00018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359400"/>
            <a:ext cx="1028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架构价值：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ElastiCache 的高可用架构为关键业务提供了金融级的稳定性保障。无论是硬件故障、机房事故还是网络抖动，都能通过多AZ冗余和自动故障转移机制从容应对，让缓存层成为支撑业务高速发展的坚实底座。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企业级特性详解：数据管理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76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自动备份与恢复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支持配置定时自动备份策略，将RDB快照自动存储至Amazon S3实现异地容灾。在故障场景下，可基于历史快照一键恢复数据或快速克隆出新的集群，有效保障业务连续性。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069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476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197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灵活的快照管理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60900" y="3429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支持按需手动创建集群快照，快照在云端可安全保留长达35天。无论是日常的数据备份归档、跨区域迁移，还是应对突发灾难的应急恢复，手动快照都能提供便捷可靠的数据保障。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159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51800" y="2159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476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64600" y="2476500"/>
            <a:ext cx="2413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双重持久化保障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305800" y="3429000"/>
            <a:ext cx="28702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提供RDB内存快照与AOF日志追加两种模式。RDB适合周期性全量备份与灾难恢复，AOF通过记录每条写操作实现极致的数据持久性。可根据业务对数据安全性、性能和恢复速度的需求灵活选择。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企业级特性详解：弹性伸缩 (手动与自动)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03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6035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手动扩展 (Manual Scaling)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291">
            <a:off x="10160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灵活调整分片规模：</a:t>
            </a:r>
            <a:r>
              <a:rPr lang="en-US" sz="16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在集群模式下，可根据业务波峰波谷，手动增加或减少分片数量，快速应对流量洪峰或业务收缩。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572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按需增减只读副本：</a:t>
            </a:r>
            <a:r>
              <a:rPr lang="en-US" sz="16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针对读密集型场景，灵活添加或移除只读副本，有效分担主节点压力，显著提升读取吞吐量。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286000"/>
            <a:ext cx="5207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60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10400" y="26035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自动扩展 (Auto Scaling)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291">
            <a:off x="6477009" y="3232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429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智能指标触发：</a:t>
            </a:r>
            <a:r>
              <a:rPr lang="en-US" sz="16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关联 CloudWatch 核心监控指标（如 CPU 利用率、内存使用率），当达到预设阈值时，自动触发节点数量的增减。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572000"/>
            <a:ext cx="469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动态资源匹配：</a:t>
            </a:r>
            <a:r>
              <a:rPr lang="en-US" sz="16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实现资源供给与业务负载的实时匹配，在业务高峰期保障性能稳定，在低谷期自动释放闲置资源，最大化降低成本。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905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505050">
                    <a:alpha val="80000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“ 弹性伸缩让缓存资源具备了‘呼吸感’，既能从容应对业务流量的剧烈波动，又能避免资源的闲置浪费，实现性能与成本的最佳平衡。”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企业级特性详解：弹性伸缩 (无服务器)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无服务器架构的核心价值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603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54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全自动容量调节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无需人工干预，系统根据负载动态增减资源，从容应对流量洪峰与波谷，彻底告别资源闲置与容量不足的窘境。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68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81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极简连接体验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提供固定的统一访问端点，屏蔽底层复杂的集群拓扑变更，让客户端集成与维护更加轻松，减少配置出错率。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5334000" cy="10795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14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5080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降本增效的运维模式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按需付费，只为实际使用的资源买单，消除闲置成本；无需进行繁琐的容量规划，彻底释放研发与运维精力。</a:t>
            </a:r>
            <a:endParaRPr lang="en-US" sz="1300" b="0" i="0" u="none" strike="noStrike">
              <a:solidFill>
                <a:srgbClr val="555555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l="1113" r="1113"/>
          <a:stretch>
            <a:fillRect/>
          </a:stretch>
        </p:blipFill>
        <p:spPr>
          <a:xfrm>
            <a:off x="6604000" y="2413000"/>
            <a:ext cx="4826000" cy="2857500"/>
          </a:xfrm>
          <a:prstGeom prst="rect">
            <a:avLst/>
          </a:prstGeom>
          <a:noFill/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604000" y="539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图示：基于 ElastiCache Serverless 的典型 AI 应用架构，实现自动扩缩容与语义缓存加速。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企业级特性详解：成本优化 (数据分层)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540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智能冷热分层机制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4290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基于r6gd节点架构，自动识别数据热度。将低频访问的“冷数据”从昂贵的DRAM内存迁移至本地低成本SSD；当数据再次被访问时，毫秒级回迁内存，保障热数据极速响应。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54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689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适配 80/20 访问法则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34290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完美契合典型的幂律分布模式：80%的业务请求集中在20%的核心热数据上。冷数据下沉不影响核心链路性能，在有限的内存资源下，最大化支撑业务数据规模。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2540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138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最高 60% 成本节省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3429000"/>
            <a:ext cx="28702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通过用更经济的SSD存储替代部分DRAM，显著降低单GB数据的存储成本。在不牺牲应用吞吐量和响应速度的前提下，实现整体架构成本的大幅优化。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588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740400"/>
            <a:ext cx="1028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在不牺牲应用响应速度的前提下，通过存储介质的智能分层，有效平衡了高性能内存计算的需求与企业的成本控制目标，是大规模缓存与实时分析场景的理想经济之选。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2.4 企业级特性详解：安全性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15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0955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传输中加密 (TLS/SSL)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25146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 TLS/SSL 协议加密客户端与集群间的所有数据传输通道，有效防止网络窃听和中间人攻击，保障数据传输链路的绝对安全。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19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560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静态加密 (KMS 托管)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524000" y="39751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AWS KMS 托管密钥对磁盘上的持久化数据（RDB/AOF）及备份快照进行高强度加密，确保数据在静止状态下的机密性。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80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0165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IAM 细粒度权限管控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524000" y="54356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 IAM 角色与自定义策略，对用户操作 ElastiCache 资源的权限进行精细化控制，实现身份认证与权限管理的统一治理。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90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13500" y="2159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0955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AUTH 密码认证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985000" y="25146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支持原生 Redis 密码认证机制，作为客户端连接集群的第一道防线，强制验证访问者身份，防止未授权的直接连接。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365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36195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5560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VPC 私有网络逻辑隔离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0" y="39751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集群默认部署在用户专属的 Amazon VPC 环境中，结合安全组规则实现网络层面的严格隔离，精准控制入站与出站流量。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826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5080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985000" y="5016500"/>
            <a:ext cx="4254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全球权威合规标准认证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985000" y="5435600"/>
            <a:ext cx="4254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全面符合 SOC 1/2/3、ISO 27001、PCI DSS、HIPAA 等多项国际及行业安全合规标准，满足金融、零售等行业的监管要求。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2.5 与自建Redis Cluster的全方位对比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52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运维管理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14074">
            <a:off x="2159000" y="20511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2540000" y="16510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AWS：全托管无忧运维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无需关注底层服务器、补丁更新及故障排查，AWS负责所有基础设施维护。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858000" y="16510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自建：重人力自主运维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需自建监控体系、处理硬件故障、手动部署升级，占用大量研发与运维精力。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5654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565400"/>
            <a:ext cx="152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成本模型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5314074">
            <a:off x="2159000" y="29655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540000" y="25654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AWS：按需付费，OPEX模式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按小时/容量计费，无前期硬件采购成本，资金利用更灵活，随用随付。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858000" y="25654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自建：CapEx+持续人力成本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需一次性投入服务器硬件资金，且长期支付专职运维人员的薪资成本。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4798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2000" y="3479800"/>
            <a:ext cx="152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服务可用性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14074">
            <a:off x="2159000" y="38799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2540000" y="34798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AWS：99.99% SLA 官方承诺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多可用区部署架构，自动故障检测与秒级切换，可用性受服务等级协议保障。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858000" y="34798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自建：可用性依赖团队能力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无官方SLA，需自行设计主从复制与哨兵机制，故障恢复速度取决于运维响应。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3942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62000" y="4394200"/>
            <a:ext cx="152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弹性伸缩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14074">
            <a:off x="2159000" y="47943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2540000" y="43942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AWS：一键式扩缩容，自动重分片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通过控制台或API即可调整节点数量/规格，系统自动迁移数据，业务零感知。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858000" y="43942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自建：手动操作，风险较高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需手动添加节点、迁移哈希槽，操作复杂且易出错，可能导致服务短暂不可用。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308600"/>
            <a:ext cx="10668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762000" y="5308600"/>
            <a:ext cx="1524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安全合规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14074">
            <a:off x="2159000" y="5708729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C8C8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2540000" y="53086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AWS：深度集成安全生态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支持静态/传输加密，集成IAM权限管理、VPC隔离及合规认证，安全更省心。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858000" y="5308600"/>
            <a:ext cx="41275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自建：需从零搭建安全体系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200" b="0" i="0" u="none" strike="noStrike">
                <a:solidFill>
                  <a:srgbClr val="555555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需自行配置防火墙规则、SSL证书、数据加密策略及用户访问控制。</a:t>
            </a:r>
            <a:endParaRPr lang="en-US" sz="1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2.6 应用场景深度剖析：经典场景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数据库缓存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984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核心场景：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缓存高频查询结果，减轻数据库读压力，解决热点数据访问瓶颈，避免数据库因高并发查询过载。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将应用响应时间从毫秒级降至微秒级，吞吐量提升数十倍，支撑海量用户的高并发访问需求。</a:t>
            </a:r>
            <a:endParaRPr lang="en-US" sz="1300" b="0" i="0" u="none" strike="noStrike">
              <a:solidFill>
                <a:srgbClr val="64646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286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435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会话存储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2984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核心场景：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替代传统单机方案，在分布式集群中集中存储用户登录态、购物车及临时身份凭证等信息。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实现跨服务器会话共享与无缝迁移，消除单点故障，性能较数据库方案提升数个数量级。</a:t>
            </a:r>
            <a:endParaRPr lang="en-US" sz="1300" b="0" i="0" u="none" strike="noStrike">
              <a:solidFill>
                <a:srgbClr val="64646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286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311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实时排行榜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29845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核心场景：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基于ZSET有序集合特性，构建游戏积分、电商热销、直播人气等需实时更新的动态榜单。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1200"/>
              </a:spcBef>
            </a:pPr>
            <a:r>
              <a:rPr lang="en-US" sz="1400" b="1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支持千万级数据的高并发实时更新与范围查询，毫秒级返回结果，轻松应对流量洪峰。</a:t>
            </a:r>
            <a:endParaRPr lang="en-US" sz="1300" b="0" i="0" u="none" strike="noStrike">
              <a:solidFill>
                <a:srgbClr val="646464"/>
              </a:solidFill>
              <a:latin typeface="Noto Sans SC" panose="020B0500000000000000" charset="-122"/>
              <a:ea typeface="Noto Sans SC" panose="020B0500000000000000" charset="-122"/>
              <a:cs typeface="Noto Sans SC" panose="020B0500000000000000" charset="-122"/>
              <a:sym typeface="Noto Sans SC" panose="020B05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571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凭借其</a:t>
            </a:r>
            <a:r>
              <a:rPr lang="en-US" sz="14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高性能、高可用、丰富数据结构</a:t>
            </a:r>
            <a:r>
              <a:rPr lang="en-US" sz="1400" b="0" i="0" u="none" strike="noStrike">
                <a:solidFill>
                  <a:srgbClr val="4B4B4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的特性，已成为现代高并发分布式架构中解决性能瓶颈的“黄金标准”。</a:t>
            </a:r>
            <a:endParaRPr lang="en-US"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2.6 应用场景深度剖析：现代与AI/ML场景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API速率限制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利用 Redis 的原子操作（如 INCR、EXPIRE）实现高效的接口频率管控。能够精准识别并拦截恶意高频请求，防止服务被滥用，是保障高并发系统稳定性的关键流量防护手段。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942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942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2413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1562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语义缓存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482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482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 LLM 应用的核心优化手段。缓存历史查询与响应，基于语义相似度快速匹配。当新查询意图相近时，直接返回缓存结果，大幅降低模型调用成本与响应延迟。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264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264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D9001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80400" y="241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788400" y="2413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03 向量数据库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280414" y="3041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D2D2D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80400" y="3302000"/>
            <a:ext cx="28702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在 RAG 架构中充当高性能检索引擎。将知识库向量化存储，通过极速的近似最近邻搜索（ANN），从海量数据中精准召回与用户查询最相关的上下文，增强 AI 回答的准确性。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D9001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89000" y="58801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Redis 凭借其毫秒级响应、高吞吐量和丰富的数据结构，成为连接传统高并发业务与前沿 AI 应用的高性能底座，有效解决了现代架构中的性能瓶颈。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2.7 最佳实践与案例：部署架构与性能调优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01 部署架构建议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464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9210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高可用 Multi-AZ 部署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生产环境强制采用多可用区架构，规避单点故障风险，确保服务连续性与数据持久性。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624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9370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弹性节点资源配置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依据业务数据量、并发读写压力及增长趋势，灵活选择节点规格与数量，避免资源浪费。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78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49530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集群模式应对海量数据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4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针对超大规模数据集，启用分片集群架构，突破单机内存与性能瓶颈，实现水平扩展。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905000"/>
            <a:ext cx="5207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477000" y="2159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02 核心性能调优策略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77000" y="29210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0734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048000"/>
            <a:ext cx="1930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精准节点选型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内存密集型业务优选R系列，计算密集型场景适配M系列，最大化资源利用率。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15400" y="29210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42400" y="30734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59900" y="3048000"/>
            <a:ext cx="1930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启用副本读取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实施读写分离，将非强一致性读请求分流至只读副本，显著提升读吞吐量。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43815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5339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21500" y="4508500"/>
            <a:ext cx="1930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键设计与哈希优化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规范Key命名空间，利用哈希标签将相关联的键映射至同一槽位，减少跨槽操作。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915400" y="4381500"/>
            <a:ext cx="2387600" cy="1333500"/>
          </a:xfrm>
          <a:prstGeom prst="roundRect">
            <a:avLst>
              <a:gd name="adj" fmla="val 0"/>
            </a:avLst>
          </a:prstGeom>
          <a:solidFill>
            <a:srgbClr val="D9001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42400" y="45339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359900" y="4508500"/>
            <a:ext cx="19304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慢查询实时监控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开启 Slowlog 功能，定期分析耗时命令，及时定位并优化性能瓶颈与低效查询。</a:t>
            </a:r>
            <a:endParaRPr lang="en-US" sz="1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D2D2D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2.7 最佳实践与案例：监控与告警策略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114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98600" y="23114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关键核心指标监控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946">
            <a:off x="1016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048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聚焦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资源负载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（CPU/内存/网络）、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性能健康度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（缓存命中率）及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稳定性风险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（键驱逐率、连接数），构建全方位的运行状态感知体系，实时掌握Redis集群脉搏。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815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3114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18100" y="23114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智能告警阈值配置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946">
            <a:off x="46355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048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基于CloudWatch设定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阶梯式阈值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：CPU利用率超80%、内存使用率超90%触发预警；缓存命中率低于95%或键驱逐率持续大于0时，立即发送告警通知，实现故障的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事前预警与快速响应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01000" y="2032000"/>
            <a:ext cx="34290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D9001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3114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37600" y="2311400"/>
            <a:ext cx="2667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全链路日志诊断闭环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946">
            <a:off x="8255014" y="2851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001B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55000" y="3048000"/>
            <a:ext cx="2921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开启ElastiCache系统日志与慢查询日志，并自动同步至CloudWatch Logs。通过日志聚合与检索，快速定位</a:t>
            </a:r>
            <a:r>
              <a:rPr lang="en-US" sz="1400" b="1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慢请求、连接异常及配置错误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，为故障排查、性能优化及容量规划提供数据支撑。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D9001B">
              <a:alpha val="8000"/>
            </a:srgbClr>
          </a:solidFill>
          <a:ln cap="flat" cmpd="sng">
            <a:solidFill>
              <a:srgbClr val="C00018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58166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001B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最佳实践核心：</a:t>
            </a:r>
            <a:r>
              <a:rPr lang="en-US" sz="1500" b="0" i="0" u="none" strike="noStrike">
                <a:solidFill>
                  <a:srgbClr val="3C3C3C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建立“监控全覆盖、告警无死角、日志可追溯”的三位一体保障机制，是确保Redis服务高可用、高性能的基石。</a:t>
            </a:r>
            <a:endParaRPr lang="en-US"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500000000000000" charset="-122"/>
                <a:ea typeface="Noto Sans SC" panose="020B0500000000000000" charset="-122"/>
                <a:cs typeface="Noto Sans SC" panose="020B0500000000000000" charset="-122"/>
                <a:sym typeface="Noto Sans SC" panose="020B0500000000000000" charset="-122"/>
              </a:rPr>
              <a:t>感谢聆听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88000" y="5207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12451</Words>
  <Application>WPS 演示</Application>
  <PresentationFormat/>
  <Paragraphs>659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6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大连瑞得国旅姜莉莉13942612138</cp:lastModifiedBy>
  <cp:revision>1</cp:revision>
  <dcterms:created xsi:type="dcterms:W3CDTF">2026-08-17T14:22:49Z</dcterms:created>
  <dcterms:modified xsi:type="dcterms:W3CDTF">2026-08-17T14:22:50Z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{"Label":"1","ContentProducer":"001191110102MACQD9K64010000","ProduceID":"7674636693081394370","ReservedCode1":"","ContentPropagator":"","PropagateID":"","ReservedCode2":""}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07C1937FFA294AF8B2EF27D024CA3B39_12</vt:lpwstr>
  </property>
</Properties>
</file>