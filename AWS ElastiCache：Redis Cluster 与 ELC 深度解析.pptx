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2.svg" ContentType="image/svg+xml"/>
  <Override PartName="/ppt/media/image104.svg" ContentType="image/svg+xml"/>
  <Override PartName="/ppt/media/image109.svg" ContentType="image/svg+xml"/>
  <Override PartName="/ppt/media/image11.svg" ContentType="image/svg+xml"/>
  <Override PartName="/ppt/media/image111.svg" ContentType="image/svg+xml"/>
  <Override PartName="/ppt/media/image116.svg" ContentType="image/svg+xml"/>
  <Override PartName="/ppt/media/image119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3.svg" ContentType="image/svg+xml"/>
  <Override PartName="/ppt/media/image130.svg" ContentType="image/svg+xml"/>
  <Override PartName="/ppt/media/image132.svg" ContentType="image/svg+xml"/>
  <Override PartName="/ppt/media/image135.svg" ContentType="image/svg+xml"/>
  <Override PartName="/ppt/media/image137.svg" ContentType="image/svg+xml"/>
  <Override PartName="/ppt/media/image139.svg" ContentType="image/svg+xml"/>
  <Override PartName="/ppt/media/image141.svg" ContentType="image/svg+xml"/>
  <Override PartName="/ppt/media/image143.svg" ContentType="image/svg+xml"/>
  <Override PartName="/ppt/media/image145.svg" ContentType="image/svg+xml"/>
  <Override PartName="/ppt/media/image147.svg" ContentType="image/svg+xml"/>
  <Override PartName="/ppt/media/image149.svg" ContentType="image/svg+xml"/>
  <Override PartName="/ppt/media/image15.svg" ContentType="image/svg+xml"/>
  <Override PartName="/ppt/media/image151.svg" ContentType="image/svg+xml"/>
  <Override PartName="/ppt/media/image153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2" r:id="rId10"/>
    <p:sldId id="263" r:id="rId11"/>
    <p:sldId id="264" r:id="rId12"/>
    <p:sldId id="261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大家好，欢迎来到本次关于 AWS ElastiCache 的深度解析课程。在现代应用架构中，缓存是提升性能、降低延迟的关键组件。今天，我们将深入探讨AWS托管的Redis服务——ElastiCache，并重点解析其两种主要部署模式：Redis Cluster和ELC。理解这两种模式的区别与适用场景，对于设计高效、可扩展的云原生应用至关重要。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六个部分。首先，我们会解析两种模式的核心概念。接着，进行深度对比分析。然后，详细讲解高可用机制。之后，我们会提供一个实用的选型指南。最后，分享一些最佳实践和新兴趋势。希望通过这次课程，大家能对ElastiCache有一个全面而深入的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现在，我们进入第一章：Redis Cluster 核心原理解析。在这一章，我们将深入理解分布式缓存的基石，包括它的架构、数据分布方式以及高可用性机制。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首先，什么是Redis Cluster？简单来说，它是Redis官方提供的分布式解决方案。它的核心目标有两个：一是通过数据分片实现水平扩展，二是通过自动故障转移实现高可用性。它具有无中心架构、数据分片、主从复制和自动故障转移等关键特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Redis Cluster的核心架构包含两个关键部分：分片和复制。分片，也就是Sharding，是将数据分散到不同的节点上，实现水平扩展。而复制，是为每个主节点配置从节点，用于数据备份和故障转移。这张图的右侧就很好地展示了这种多分片、主从复制的架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Redis Cluster的高可用性首先体现在故障检测上。节点之间通过Gossip协议互相监控。如果一个节点长时间没有响应，会被标记为疑似下线。只有当大多数主节点都确认它下线后，才会被标记为真正下线。这种机制保证了故障判断的准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一旦主节点被确认下线，自动故障转移就会开始。它的从节点会进行选举，选出一个新的主节点来接管原来的哈希槽。整个过程完全自动化，无需人工干预，从而保证了服务的高可用性。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在客户端交互方面，Redis Cluster定义了两种重定向机制：MOVED和ASK。MOVED是永久重定向，告诉客户端某个槽已经永久迁移到新节点。而ASK是临时重定向，用于在槽迁移过程中，引导客户端找到正在迁移的键。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那么数据是如何分布的呢？Redis Cluster使用了哈希槽机制。总共有16384个哈希槽。当一个键写入时，Redis会通过CRC16算法计算出它应该属于哪个槽。为了支持多键操作，Redis还提供了哈希标签功能，让相关的键可以被分配到同一个槽中。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当然，Redis Cluster也有一些局限性。比如，多键操作和事务都被限制在同一个哈希槽内。它也不支持多数据库。并且，由于是异步复制，在主节点宕机时可能存在少量数据丢失的风险。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尽管有这些局限性，Redis Cluster仍然是许多场景的理想选择。特别是当你需要大规模水平扩展、对高可用性要求高，并且数据访问模式以单键操作为主时。比如Session存储、排行榜、实时计数器等场景，都非常适合使用Redis Cluster。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总结一下第一章的内容。Redis Cluster的核心是哈希槽分片和主从复制。它的无中心架构保证了高可用性。客户端通过MOVED和ASK命令与集群交互。它非常适合需要大规模水平扩展的缓存场景。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接下来，我们进入本次课程的重点——第二章：AWS ElastiCache深度解析。在这一章，我们将全面学习如何在AWS云上构建、管理和优化高性能的缓存服务。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什么是ElastiCache？它是一项完全托管的内存缓存服务。这意味着我们无需关心底层的硬件和软件维护，可以专注于应用逻辑。它提供了高性能、高可用性、弹性伸缩和强大的安全性，是构建现代应用的理想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ElastiCache支持三种主要的引擎：Valkey、Redis OSS和Memcached。Valkey是Redis的一个高性能分支，提供更好的性能和更低的成本，是我们的推荐选择。Redis OSS是经典的开源版本，而Memcached则适合更简单的场景。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ElastiCache提供两种核心的部署模式：Cluster Mode Disabled和Enabled。Disabled模式是单分片架构，简单易管理，适合数据量小、读多写少的场景。Enabled模式是多分片架构，支持水平扩展，适合数据量大、写负载高的场景。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那么如何选择呢？关键看您的业务需求。如果数据量小、读多写少，选Disabled模式。如果数据量大、写操作频繁，需要扩展性，那就选Enabled模式。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部署方式上，ElastiCache提供了两种选择：基于节点的集群和无服务器。基于节点的集群提供了更精细的控制，适合可预测的负载。而无服务器模式则无需容量规划，自动扩展，按使用付费，非常适合负载波动大的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对于现代化的运维，我们强烈推荐使用基础设施即代码，比如Terraform。通过代码来管理ElastiCache集群，可以实现版本控制、自动化和环境一致性。这里是一个部署Serverless缓存的Terraform代码示例。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安全性是至关重要的。首先是网络隔离，我们必须将ElastiCache集群部署在VPC的私有子网中，并通过安全组严格控制访问来源，只允许应用服务器访问，绝对不能开放给所有公网IP。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其次是加密和认证。我们应该同时启用传输中加密和静态加密，确保数据在传输和存储过程中的安全。同时，要设置强密码，并使用IAM来控制对集群的管理权限。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监控是保障服务稳定的关键。我们可以通过CloudWatch监控一系列关键指标，比如引擎CPU使用率、可用内存、连接数、缓存命中率、复制延迟等。这些指标能帮助我们及时发现问题。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仅仅监控是不够的，我们还需要设置报警。例如，当引擎CPU使用率超过70%，或者出现交换空间使用，或者复制延迟过高时，都应该触发报警，通知我们及时处理。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数据安全同样重要。ElastiCache提供了自动备份和手动备份功能。我们强烈建议启用自动备份和时间点恢复（PITR），并定期测试恢复流程，确保在需要时能够快速恢复数据。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其次是参数调优。合理设置内存淘汰策略、为非数据用途保留足够的内存、以及启用异步删除，都可以显著提升Redis的性能和稳定性，避免因删除大键等操作导致的延迟飙升。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客户端的优化同样重要。一定要使用连接池，启用Pipeline来减少网络开销。此外，推荐使用AWS联合开发的GLIDE客户端，它可以智能地选择最近的节点进行访问，进一步降低延迟。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性能和成本之间取得平衡是每个架构师的必修课。对于可预测的工作负载，使用基于节点的集群并结合预留实例可以大幅降低成本。对于不可预测的工作负载，Serverless模式是更经济的选择，因为它按实际使用量付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在实例类型的选择上，我们强烈推荐使用基于ARM架构的Graviton实例。它在性能相当的情况下，成本比同规格的x86实例低20%，性价比极高。同时，配置自动伸缩策略可以确保我们只为所需的资源付费。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另一个重要功能是ElastiCache for Valkey。Valkey不仅开源免费，而且在性能、内存效率和成本方面都全面超越了Redis OSS。它还提供了全文搜索等丰富的新功能，是未来的发展方向。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第二章的内容。ElastiCache的核心价值在于其托管服务带来的便捷性。选择正确的部署模式是架构设计的关键。我们需要遵循一系列最佳实践来确保服务的安全、稳定和高效。最后，要积极拥抱Valkey和Serverless等新功能，以保持技术领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我的讲解到此结束，感谢大家的聆听。现在是问答环节，欢迎大家提问。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svg"/><Relationship Id="rId7" Type="http://schemas.openxmlformats.org/officeDocument/2006/relationships/image" Target="../media/image12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9.svg"/><Relationship Id="rId13" Type="http://schemas.openxmlformats.org/officeDocument/2006/relationships/image" Target="../media/image18.png"/><Relationship Id="rId12" Type="http://schemas.openxmlformats.org/officeDocument/2006/relationships/image" Target="../media/image17.svg"/><Relationship Id="rId11" Type="http://schemas.openxmlformats.org/officeDocument/2006/relationships/image" Target="../media/image16.png"/><Relationship Id="rId10" Type="http://schemas.openxmlformats.org/officeDocument/2006/relationships/image" Target="../media/image15.sv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svg"/><Relationship Id="rId8" Type="http://schemas.openxmlformats.org/officeDocument/2006/relationships/image" Target="../media/image43.png"/><Relationship Id="rId7" Type="http://schemas.openxmlformats.org/officeDocument/2006/relationships/image" Target="../media/image42.svg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svg"/><Relationship Id="rId8" Type="http://schemas.openxmlformats.org/officeDocument/2006/relationships/image" Target="../media/image48.png"/><Relationship Id="rId7" Type="http://schemas.openxmlformats.org/officeDocument/2006/relationships/image" Target="../media/image44.svg"/><Relationship Id="rId6" Type="http://schemas.openxmlformats.org/officeDocument/2006/relationships/image" Target="../media/image47.png"/><Relationship Id="rId5" Type="http://schemas.openxmlformats.org/officeDocument/2006/relationships/image" Target="../media/image11.svg"/><Relationship Id="rId4" Type="http://schemas.openxmlformats.org/officeDocument/2006/relationships/image" Target="../media/image46.png"/><Relationship Id="rId3" Type="http://schemas.openxmlformats.org/officeDocument/2006/relationships/image" Target="../media/image34.svg"/><Relationship Id="rId2" Type="http://schemas.openxmlformats.org/officeDocument/2006/relationships/image" Target="../media/image45.png"/><Relationship Id="rId17" Type="http://schemas.openxmlformats.org/officeDocument/2006/relationships/notesSlide" Target="../notesSlides/notesSlide11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54.svg"/><Relationship Id="rId14" Type="http://schemas.openxmlformats.org/officeDocument/2006/relationships/image" Target="../media/image53.png"/><Relationship Id="rId13" Type="http://schemas.openxmlformats.org/officeDocument/2006/relationships/image" Target="../media/image52.svg"/><Relationship Id="rId12" Type="http://schemas.openxmlformats.org/officeDocument/2006/relationships/image" Target="../media/image51.png"/><Relationship Id="rId11" Type="http://schemas.openxmlformats.org/officeDocument/2006/relationships/image" Target="../media/image50.svg"/><Relationship Id="rId10" Type="http://schemas.openxmlformats.org/officeDocument/2006/relationships/image" Target="../media/image49.pn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svg"/><Relationship Id="rId8" Type="http://schemas.openxmlformats.org/officeDocument/2006/relationships/image" Target="../media/image60.png"/><Relationship Id="rId7" Type="http://schemas.openxmlformats.org/officeDocument/2006/relationships/image" Target="../media/image59.svg"/><Relationship Id="rId6" Type="http://schemas.openxmlformats.org/officeDocument/2006/relationships/image" Target="../media/image58.png"/><Relationship Id="rId5" Type="http://schemas.openxmlformats.org/officeDocument/2006/relationships/image" Target="../media/image13.svg"/><Relationship Id="rId4" Type="http://schemas.openxmlformats.org/officeDocument/2006/relationships/image" Target="../media/image57.png"/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svg"/><Relationship Id="rId8" Type="http://schemas.openxmlformats.org/officeDocument/2006/relationships/image" Target="../media/image60.png"/><Relationship Id="rId7" Type="http://schemas.openxmlformats.org/officeDocument/2006/relationships/image" Target="../media/image11.svg"/><Relationship Id="rId6" Type="http://schemas.openxmlformats.org/officeDocument/2006/relationships/image" Target="../media/image46.png"/><Relationship Id="rId5" Type="http://schemas.openxmlformats.org/officeDocument/2006/relationships/image" Target="../media/image65.svg"/><Relationship Id="rId4" Type="http://schemas.openxmlformats.org/officeDocument/2006/relationships/image" Target="../media/image64.png"/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7.svg"/><Relationship Id="rId10" Type="http://schemas.openxmlformats.org/officeDocument/2006/relationships/image" Target="../media/image66.png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2.svg"/><Relationship Id="rId6" Type="http://schemas.openxmlformats.org/officeDocument/2006/relationships/image" Target="../media/image71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Relationship Id="rId3" Type="http://schemas.openxmlformats.org/officeDocument/2006/relationships/image" Target="../media/image7.jpeg"/><Relationship Id="rId2" Type="http://schemas.openxmlformats.org/officeDocument/2006/relationships/image" Target="../media/image68.jpeg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svg"/><Relationship Id="rId8" Type="http://schemas.openxmlformats.org/officeDocument/2006/relationships/image" Target="../media/image79.png"/><Relationship Id="rId7" Type="http://schemas.openxmlformats.org/officeDocument/2006/relationships/image" Target="../media/image78.svg"/><Relationship Id="rId6" Type="http://schemas.openxmlformats.org/officeDocument/2006/relationships/image" Target="../media/image77.png"/><Relationship Id="rId5" Type="http://schemas.openxmlformats.org/officeDocument/2006/relationships/image" Target="../media/image76.svg"/><Relationship Id="rId4" Type="http://schemas.openxmlformats.org/officeDocument/2006/relationships/image" Target="../media/image75.png"/><Relationship Id="rId3" Type="http://schemas.openxmlformats.org/officeDocument/2006/relationships/image" Target="../media/image74.svg"/><Relationship Id="rId27" Type="http://schemas.openxmlformats.org/officeDocument/2006/relationships/notesSlide" Target="../notesSlides/notesSlide16.xml"/><Relationship Id="rId26" Type="http://schemas.openxmlformats.org/officeDocument/2006/relationships/slideLayout" Target="../slideLayouts/slideLayout12.xml"/><Relationship Id="rId25" Type="http://schemas.openxmlformats.org/officeDocument/2006/relationships/image" Target="../media/image94.svg"/><Relationship Id="rId24" Type="http://schemas.openxmlformats.org/officeDocument/2006/relationships/image" Target="../media/image93.png"/><Relationship Id="rId23" Type="http://schemas.openxmlformats.org/officeDocument/2006/relationships/image" Target="../media/image65.svg"/><Relationship Id="rId22" Type="http://schemas.openxmlformats.org/officeDocument/2006/relationships/image" Target="../media/image64.png"/><Relationship Id="rId21" Type="http://schemas.openxmlformats.org/officeDocument/2006/relationships/image" Target="../media/image92.svg"/><Relationship Id="rId20" Type="http://schemas.openxmlformats.org/officeDocument/2006/relationships/image" Target="../media/image91.png"/><Relationship Id="rId2" Type="http://schemas.openxmlformats.org/officeDocument/2006/relationships/image" Target="../media/image73.png"/><Relationship Id="rId19" Type="http://schemas.openxmlformats.org/officeDocument/2006/relationships/image" Target="../media/image90.svg"/><Relationship Id="rId18" Type="http://schemas.openxmlformats.org/officeDocument/2006/relationships/image" Target="../media/image89.png"/><Relationship Id="rId17" Type="http://schemas.openxmlformats.org/officeDocument/2006/relationships/image" Target="../media/image88.svg"/><Relationship Id="rId16" Type="http://schemas.openxmlformats.org/officeDocument/2006/relationships/image" Target="../media/image87.png"/><Relationship Id="rId15" Type="http://schemas.openxmlformats.org/officeDocument/2006/relationships/image" Target="../media/image86.svg"/><Relationship Id="rId14" Type="http://schemas.openxmlformats.org/officeDocument/2006/relationships/image" Target="../media/image85.png"/><Relationship Id="rId13" Type="http://schemas.openxmlformats.org/officeDocument/2006/relationships/image" Target="../media/image84.svg"/><Relationship Id="rId12" Type="http://schemas.openxmlformats.org/officeDocument/2006/relationships/image" Target="../media/image83.png"/><Relationship Id="rId11" Type="http://schemas.openxmlformats.org/officeDocument/2006/relationships/image" Target="../media/image82.svg"/><Relationship Id="rId10" Type="http://schemas.openxmlformats.org/officeDocument/2006/relationships/image" Target="../media/image81.png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svg"/><Relationship Id="rId8" Type="http://schemas.openxmlformats.org/officeDocument/2006/relationships/image" Target="../media/image99.png"/><Relationship Id="rId7" Type="http://schemas.openxmlformats.org/officeDocument/2006/relationships/image" Target="../media/image98.svg"/><Relationship Id="rId6" Type="http://schemas.openxmlformats.org/officeDocument/2006/relationships/image" Target="../media/image97.png"/><Relationship Id="rId5" Type="http://schemas.openxmlformats.org/officeDocument/2006/relationships/image" Target="../media/image96.svg"/><Relationship Id="rId4" Type="http://schemas.openxmlformats.org/officeDocument/2006/relationships/image" Target="../media/image95.png"/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5" Type="http://schemas.openxmlformats.org/officeDocument/2006/relationships/notesSlide" Target="../notesSlides/notesSlide17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04.svg"/><Relationship Id="rId12" Type="http://schemas.openxmlformats.org/officeDocument/2006/relationships/image" Target="../media/image103.png"/><Relationship Id="rId11" Type="http://schemas.openxmlformats.org/officeDocument/2006/relationships/image" Target="../media/image102.svg"/><Relationship Id="rId10" Type="http://schemas.openxmlformats.org/officeDocument/2006/relationships/image" Target="../media/image101.png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11.svg"/><Relationship Id="rId6" Type="http://schemas.openxmlformats.org/officeDocument/2006/relationships/image" Target="../media/image110.png"/><Relationship Id="rId5" Type="http://schemas.openxmlformats.org/officeDocument/2006/relationships/image" Target="../media/image109.svg"/><Relationship Id="rId4" Type="http://schemas.openxmlformats.org/officeDocument/2006/relationships/image" Target="../media/image108.png"/><Relationship Id="rId3" Type="http://schemas.openxmlformats.org/officeDocument/2006/relationships/image" Target="../media/image32.svg"/><Relationship Id="rId2" Type="http://schemas.openxmlformats.org/officeDocument/2006/relationships/image" Target="../media/image107.png"/><Relationship Id="rId1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46.png"/><Relationship Id="rId4" Type="http://schemas.openxmlformats.org/officeDocument/2006/relationships/image" Target="../media/image34.svg"/><Relationship Id="rId3" Type="http://schemas.openxmlformats.org/officeDocument/2006/relationships/image" Target="../media/image45.png"/><Relationship Id="rId2" Type="http://schemas.openxmlformats.org/officeDocument/2006/relationships/image" Target="../media/image112.jpeg"/><Relationship Id="rId1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svg"/><Relationship Id="rId8" Type="http://schemas.openxmlformats.org/officeDocument/2006/relationships/image" Target="../media/image115.png"/><Relationship Id="rId7" Type="http://schemas.openxmlformats.org/officeDocument/2006/relationships/image" Target="../media/image11.svg"/><Relationship Id="rId6" Type="http://schemas.openxmlformats.org/officeDocument/2006/relationships/image" Target="../media/image46.png"/><Relationship Id="rId5" Type="http://schemas.openxmlformats.org/officeDocument/2006/relationships/image" Target="../media/image40.svg"/><Relationship Id="rId4" Type="http://schemas.openxmlformats.org/officeDocument/2006/relationships/image" Target="../media/image114.png"/><Relationship Id="rId3" Type="http://schemas.openxmlformats.org/officeDocument/2006/relationships/image" Target="../media/image21.svg"/><Relationship Id="rId2" Type="http://schemas.openxmlformats.org/officeDocument/2006/relationships/image" Target="../media/image113.png"/><Relationship Id="rId11" Type="http://schemas.openxmlformats.org/officeDocument/2006/relationships/notesSlide" Target="../notesSlides/notesSlide21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png"/><Relationship Id="rId8" Type="http://schemas.openxmlformats.org/officeDocument/2006/relationships/image" Target="../media/image21.svg"/><Relationship Id="rId7" Type="http://schemas.openxmlformats.org/officeDocument/2006/relationships/image" Target="../media/image113.png"/><Relationship Id="rId6" Type="http://schemas.openxmlformats.org/officeDocument/2006/relationships/image" Target="../media/image121.svg"/><Relationship Id="rId5" Type="http://schemas.openxmlformats.org/officeDocument/2006/relationships/image" Target="../media/image120.png"/><Relationship Id="rId4" Type="http://schemas.openxmlformats.org/officeDocument/2006/relationships/image" Target="../media/image119.svg"/><Relationship Id="rId3" Type="http://schemas.openxmlformats.org/officeDocument/2006/relationships/image" Target="../media/image118.png"/><Relationship Id="rId2" Type="http://schemas.openxmlformats.org/officeDocument/2006/relationships/image" Target="../media/image117.jpeg"/><Relationship Id="rId16" Type="http://schemas.openxmlformats.org/officeDocument/2006/relationships/notesSlide" Target="../notesSlides/notesSlide22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65.svg"/><Relationship Id="rId13" Type="http://schemas.openxmlformats.org/officeDocument/2006/relationships/image" Target="../media/image64.png"/><Relationship Id="rId12" Type="http://schemas.openxmlformats.org/officeDocument/2006/relationships/image" Target="../media/image32.svg"/><Relationship Id="rId11" Type="http://schemas.openxmlformats.org/officeDocument/2006/relationships/image" Target="../media/image107.png"/><Relationship Id="rId10" Type="http://schemas.openxmlformats.org/officeDocument/2006/relationships/image" Target="../media/image123.svg"/><Relationship Id="rId1" Type="http://schemas.openxmlformats.org/officeDocument/2006/relationships/image" Target="../media/image6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svg"/><Relationship Id="rId8" Type="http://schemas.openxmlformats.org/officeDocument/2006/relationships/image" Target="../media/image47.png"/><Relationship Id="rId7" Type="http://schemas.openxmlformats.org/officeDocument/2006/relationships/image" Target="../media/image65.svg"/><Relationship Id="rId6" Type="http://schemas.openxmlformats.org/officeDocument/2006/relationships/image" Target="../media/image64.png"/><Relationship Id="rId5" Type="http://schemas.openxmlformats.org/officeDocument/2006/relationships/image" Target="../media/image121.svg"/><Relationship Id="rId4" Type="http://schemas.openxmlformats.org/officeDocument/2006/relationships/image" Target="../media/image120.png"/><Relationship Id="rId3" Type="http://schemas.openxmlformats.org/officeDocument/2006/relationships/image" Target="../media/image119.svg"/><Relationship Id="rId2" Type="http://schemas.openxmlformats.org/officeDocument/2006/relationships/image" Target="../media/image118.png"/><Relationship Id="rId13" Type="http://schemas.openxmlformats.org/officeDocument/2006/relationships/notesSlide" Target="../notesSlides/notesSlide23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1.svg"/><Relationship Id="rId10" Type="http://schemas.openxmlformats.org/officeDocument/2006/relationships/image" Target="../media/image113.png"/><Relationship Id="rId1" Type="http://schemas.openxmlformats.org/officeDocument/2006/relationships/image" Target="../media/image6.jpe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svg"/><Relationship Id="rId8" Type="http://schemas.openxmlformats.org/officeDocument/2006/relationships/image" Target="../media/image128.png"/><Relationship Id="rId7" Type="http://schemas.openxmlformats.org/officeDocument/2006/relationships/image" Target="../media/image32.svg"/><Relationship Id="rId6" Type="http://schemas.openxmlformats.org/officeDocument/2006/relationships/image" Target="../media/image107.png"/><Relationship Id="rId5" Type="http://schemas.openxmlformats.org/officeDocument/2006/relationships/image" Target="../media/image127.svg"/><Relationship Id="rId4" Type="http://schemas.openxmlformats.org/officeDocument/2006/relationships/image" Target="../media/image126.png"/><Relationship Id="rId3" Type="http://schemas.openxmlformats.org/officeDocument/2006/relationships/image" Target="../media/image125.svg"/><Relationship Id="rId2" Type="http://schemas.openxmlformats.org/officeDocument/2006/relationships/image" Target="../media/image124.png"/><Relationship Id="rId13" Type="http://schemas.openxmlformats.org/officeDocument/2006/relationships/notesSlide" Target="../notesSlides/notesSlide2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30.svg"/><Relationship Id="rId10" Type="http://schemas.openxmlformats.org/officeDocument/2006/relationships/image" Target="../media/image129.png"/><Relationship Id="rId1" Type="http://schemas.openxmlformats.org/officeDocument/2006/relationships/image" Target="../media/image6.jpe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svg"/><Relationship Id="rId8" Type="http://schemas.openxmlformats.org/officeDocument/2006/relationships/image" Target="../media/image89.png"/><Relationship Id="rId7" Type="http://schemas.openxmlformats.org/officeDocument/2006/relationships/image" Target="../media/image132.svg"/><Relationship Id="rId6" Type="http://schemas.openxmlformats.org/officeDocument/2006/relationships/image" Target="../media/image131.png"/><Relationship Id="rId5" Type="http://schemas.openxmlformats.org/officeDocument/2006/relationships/image" Target="../media/image121.svg"/><Relationship Id="rId4" Type="http://schemas.openxmlformats.org/officeDocument/2006/relationships/image" Target="../media/image120.png"/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6" Type="http://schemas.openxmlformats.org/officeDocument/2006/relationships/notesSlide" Target="../notesSlides/notesSlide25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27.svg"/><Relationship Id="rId13" Type="http://schemas.openxmlformats.org/officeDocument/2006/relationships/image" Target="../media/image126.png"/><Relationship Id="rId12" Type="http://schemas.openxmlformats.org/officeDocument/2006/relationships/image" Target="../media/image94.svg"/><Relationship Id="rId11" Type="http://schemas.openxmlformats.org/officeDocument/2006/relationships/image" Target="../media/image93.png"/><Relationship Id="rId10" Type="http://schemas.openxmlformats.org/officeDocument/2006/relationships/image" Target="../media/image133.png"/><Relationship Id="rId1" Type="http://schemas.openxmlformats.org/officeDocument/2006/relationships/image" Target="../media/image6.jpe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5.svg"/><Relationship Id="rId6" Type="http://schemas.openxmlformats.org/officeDocument/2006/relationships/image" Target="../media/image64.png"/><Relationship Id="rId5" Type="http://schemas.openxmlformats.org/officeDocument/2006/relationships/image" Target="../media/image11.svg"/><Relationship Id="rId4" Type="http://schemas.openxmlformats.org/officeDocument/2006/relationships/image" Target="../media/image46.png"/><Relationship Id="rId3" Type="http://schemas.openxmlformats.org/officeDocument/2006/relationships/image" Target="../media/image121.svg"/><Relationship Id="rId2" Type="http://schemas.openxmlformats.org/officeDocument/2006/relationships/image" Target="../media/image120.png"/><Relationship Id="rId1" Type="http://schemas.openxmlformats.org/officeDocument/2006/relationships/image" Target="../media/image6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37.svg"/><Relationship Id="rId6" Type="http://schemas.openxmlformats.org/officeDocument/2006/relationships/image" Target="../media/image136.png"/><Relationship Id="rId5" Type="http://schemas.openxmlformats.org/officeDocument/2006/relationships/image" Target="../media/image135.svg"/><Relationship Id="rId4" Type="http://schemas.openxmlformats.org/officeDocument/2006/relationships/image" Target="../media/image134.png"/><Relationship Id="rId3" Type="http://schemas.openxmlformats.org/officeDocument/2006/relationships/image" Target="../media/image21.svg"/><Relationship Id="rId2" Type="http://schemas.openxmlformats.org/officeDocument/2006/relationships/image" Target="../media/image113.png"/><Relationship Id="rId1" Type="http://schemas.openxmlformats.org/officeDocument/2006/relationships/image" Target="../media/image6.jpe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39.svg"/><Relationship Id="rId4" Type="http://schemas.openxmlformats.org/officeDocument/2006/relationships/image" Target="../media/image138.png"/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image" Target="../media/image6.jpe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5.svg"/><Relationship Id="rId8" Type="http://schemas.openxmlformats.org/officeDocument/2006/relationships/image" Target="../media/image144.png"/><Relationship Id="rId7" Type="http://schemas.openxmlformats.org/officeDocument/2006/relationships/image" Target="../media/image65.svg"/><Relationship Id="rId6" Type="http://schemas.openxmlformats.org/officeDocument/2006/relationships/image" Target="../media/image64.png"/><Relationship Id="rId5" Type="http://schemas.openxmlformats.org/officeDocument/2006/relationships/image" Target="../media/image143.svg"/><Relationship Id="rId4" Type="http://schemas.openxmlformats.org/officeDocument/2006/relationships/image" Target="../media/image142.png"/><Relationship Id="rId3" Type="http://schemas.openxmlformats.org/officeDocument/2006/relationships/image" Target="../media/image141.svg"/><Relationship Id="rId2" Type="http://schemas.openxmlformats.org/officeDocument/2006/relationships/image" Target="../media/image140.png"/><Relationship Id="rId13" Type="http://schemas.openxmlformats.org/officeDocument/2006/relationships/notesSlide" Target="../notesSlides/notesSlide29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04.svg"/><Relationship Id="rId10" Type="http://schemas.openxmlformats.org/officeDocument/2006/relationships/image" Target="../media/image103.png"/><Relationship Id="rId1" Type="http://schemas.openxmlformats.org/officeDocument/2006/relationships/image" Target="../media/image6.jpe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6.png"/><Relationship Id="rId1" Type="http://schemas.openxmlformats.org/officeDocument/2006/relationships/image" Target="../media/image6.jpe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6.png"/><Relationship Id="rId8" Type="http://schemas.openxmlformats.org/officeDocument/2006/relationships/image" Target="../media/image141.svg"/><Relationship Id="rId7" Type="http://schemas.openxmlformats.org/officeDocument/2006/relationships/image" Target="../media/image140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130.svg"/><Relationship Id="rId3" Type="http://schemas.openxmlformats.org/officeDocument/2006/relationships/image" Target="../media/image129.png"/><Relationship Id="rId2" Type="http://schemas.openxmlformats.org/officeDocument/2006/relationships/image" Target="../media/image68.jpeg"/><Relationship Id="rId14" Type="http://schemas.openxmlformats.org/officeDocument/2006/relationships/notesSlide" Target="../notesSlides/notesSlide31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49.svg"/><Relationship Id="rId11" Type="http://schemas.openxmlformats.org/officeDocument/2006/relationships/image" Target="../media/image148.png"/><Relationship Id="rId10" Type="http://schemas.openxmlformats.org/officeDocument/2006/relationships/image" Target="../media/image147.svg"/><Relationship Id="rId1" Type="http://schemas.openxmlformats.org/officeDocument/2006/relationships/image" Target="../media/image6.jpe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4.svg"/><Relationship Id="rId2" Type="http://schemas.openxmlformats.org/officeDocument/2006/relationships/image" Target="../media/image45.png"/><Relationship Id="rId1" Type="http://schemas.openxmlformats.org/officeDocument/2006/relationships/image" Target="../media/image6.jpe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svg"/><Relationship Id="rId8" Type="http://schemas.openxmlformats.org/officeDocument/2006/relationships/image" Target="../media/image152.png"/><Relationship Id="rId7" Type="http://schemas.openxmlformats.org/officeDocument/2006/relationships/image" Target="../media/image98.svg"/><Relationship Id="rId6" Type="http://schemas.openxmlformats.org/officeDocument/2006/relationships/image" Target="../media/image97.png"/><Relationship Id="rId5" Type="http://schemas.openxmlformats.org/officeDocument/2006/relationships/image" Target="../media/image32.svg"/><Relationship Id="rId4" Type="http://schemas.openxmlformats.org/officeDocument/2006/relationships/image" Target="../media/image107.png"/><Relationship Id="rId3" Type="http://schemas.openxmlformats.org/officeDocument/2006/relationships/image" Target="../media/image151.svg"/><Relationship Id="rId2" Type="http://schemas.openxmlformats.org/officeDocument/2006/relationships/image" Target="../media/image150.png"/><Relationship Id="rId11" Type="http://schemas.openxmlformats.org/officeDocument/2006/relationships/notesSlide" Target="../notesSlides/notesSlide3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4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39.svg"/><Relationship Id="rId4" Type="http://schemas.openxmlformats.org/officeDocument/2006/relationships/image" Target="../media/image138.png"/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image" Target="../media/image6.jpe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5.png"/><Relationship Id="rId1" Type="http://schemas.openxmlformats.org/officeDocument/2006/relationships/image" Target="../media/image15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096000" y="2286000"/>
            <a:ext cx="558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 ElastiCache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0" y="3810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与 ELC 深度解析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0" y="47625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cap="flat" cmpd="sng">
            <a:solidFill>
              <a:srgbClr val="E68A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53975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477000" y="5359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讲师：AWS 解决方案架构师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17000" y="53975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9398000" y="53594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2026年8月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课程大纲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1016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FF99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397000" y="3175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667000" y="2984500"/>
            <a:ext cx="812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核心原理解析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667000" y="3619500"/>
            <a:ext cx="812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2607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深入理解分布式缓存的基石，包括架构、数据分布、高可用性等。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826000"/>
            <a:ext cx="10160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FF99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397000" y="5207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667000" y="5016500"/>
            <a:ext cx="812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 ElastiCache 深度解析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667000" y="5524500"/>
            <a:ext cx="812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607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掌握在AWS云上构建、管理和优化高性能缓存的完整知识体系，包括部署模式、安全、监控、性能优化等。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1016000"/>
            <a:ext cx="317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794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核心原理解析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44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4826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深入探索去中心化架构的设计精髓，解析哈希槽分区策略与故障自动转移机制，</a:t>
            </a:r>
            <a:br>
              <a:rPr lang="en-US" sz="16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6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从底层原理层面掌握 Redis 分布式集群的高并发支撑与高可用保障。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什么是Redis Cluster？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731645"/>
            <a:ext cx="1387475" cy="13874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794000" y="1841500"/>
            <a:ext cx="736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是 Redis 官方提供的分布式解决方案，专为突破单节点瓶颈设计。它通过</a:t>
            </a:r>
            <a:r>
              <a:rPr lang="en-US" sz="15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自动分片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实现海量数据存储，利用</a:t>
            </a:r>
            <a:r>
              <a:rPr lang="en-US" sz="15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主从复制与故障转移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保障服务的高可用性，是构建大规模 Redis 集群的标准方式。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6322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34544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水平扩展 (Scalability)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将数据分散存储在多个节点，突破单机内存、算力与网络带宽的物理限制，轻松支撑TB级数据与高并发访问。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159500" y="3302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36322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34544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高可用性 (High Availability)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节点故障时自动检测并触发故障转移，从节点无缝接替主节点提供服务，确保业务连续性，实现“零停机”保障。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4889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33500" y="4889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无中心架构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5334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所有节点对等，通过Gossip协议通信，无单点故障风险，集群更健壮、易于扩展。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492500" y="4699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83000" y="4889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064000" y="4889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16384 哈希槽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683000" y="5334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数据按键的哈希值映射到固定槽位，每个节点负责部分槽，实现数据的均匀分布与快速定位。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699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4889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94500" y="4889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主从热备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5334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主节点处理写请求，从节点实时同步数据并提供读服务，既实现数据冗余备份，又支持读写分离。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953500" y="4699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44000" y="4889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525000" y="4889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自动容灾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144000" y="5334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当主节点宕机时，集群自动将其从节点选举为新主节点，无需人工干预，恢复时间极短。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核心架构：分片与复制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057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分片 (Sharding)：水平扩展的基石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5654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将16384个哈希槽分配给集群主节点，实现数据分布式存储。通过增加节点数量，可线性扩展存储容量与写入吞吐量，轻松应对海量数据与高并发写入场景，突破单机性能瓶颈。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38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34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复制 (Replication)：高可用与读写分离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8514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为主节点配置从节点进行异步数据备份，确保数据持久化与冗余。主节点故障时自动触发故障转移，从节点晋升为主节点，保障服务不间断；同时从节点可分担读流量，实现读写分离。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l="10548" r="10548"/>
          <a:stretch>
            <a:fillRect/>
          </a:stretch>
        </p:blipFill>
        <p:spPr>
          <a:xfrm>
            <a:off x="6223000" y="2159000"/>
            <a:ext cx="5207000" cy="2667000"/>
          </a:xfrm>
          <a:prstGeom prst="roundRect">
            <a:avLst>
              <a:gd name="adj" fmla="val 3809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6223000" y="50800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图示：Redis Cluster 架构模式，展示了多节点分片部署及主从复制的层级关系，是实现高性能与高可用的标准范式。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高可用性：故障检测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36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368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心跳检测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9845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节点之间通过Gossip协议定期交换状态信息，构建起全集群的健康监测网络，确保每个节点的状态对集群可见。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032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069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3368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168900" y="23368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疑似下线 (PFAIL)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60900" y="29845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若节点在超时时间（默认15秒）内未响应心跳，监测节点会将其标记为“疑似下线”，这是故障判定的第一步。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2032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518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3368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13800" y="23368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真正下线 (FAIL)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05800" y="29845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当集群中大多数主节点都确认该节点为PFAIL时，会达成共识将其标记为“真正下线”，随即触发故障转移流程。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207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397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机制优势：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这种“先疑后定”的分布式共识机制，通过多节点交叉验证替代单点判断，有效规避了因网络抖动或临时网络分区导致的误判，为集群的高可用性提供了坚实的底层保障。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高可用性：自动故障转移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2603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952500" y="2794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发起选举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3020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当主节点被监测标记为 FAIL 状态后，其从属节点会立即触发故障转移流程，启动集群容错机制。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92500" y="2032000"/>
            <a:ext cx="2603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228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683000" y="2794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投票竞选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83000" y="33020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从节点之间通过共识算法进行投票，快速推选出数据最完整、状态最健康的节点作为新的主节点。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2032000"/>
            <a:ext cx="2603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2286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413500" y="2794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接管槽位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13500" y="33020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新主节点无缝承接原主节点负责的所有哈希槽映射，即刻开始处理来自客户端的读写请求。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953500" y="2032000"/>
            <a:ext cx="2603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0" y="2286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144000" y="2794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拓扑同步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44000" y="33020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集群向所有节点广播最新的拓扑结构，各节点同步更新路由表，确保数据访问的准确路由。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207000"/>
            <a:ext cx="10795000" cy="10160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53975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核心优势：</a:t>
            </a:r>
            <a:r>
              <a:rPr lang="en-US" sz="1400" b="0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整个故障转移过程</a:t>
            </a:r>
            <a:r>
              <a:rPr lang="en-US" sz="14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完全自动化执行</a:t>
            </a:r>
            <a:r>
              <a:rPr lang="en-US" sz="1400" b="0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，无需人工干预，实现毫秒级的服务切换，有效规避单点故障风险，为业务连续性和系统稳定性提供了坚实的高可用保障。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客户端交互：ASK与MOVED重定向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508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828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36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368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MOVED 永久重定向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2978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32F3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175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适用场景：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当请求的键所属哈希槽已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永久迁移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至其他节点时触发。这是集群拓扑结构发生的永久性变更，意味着该槽的归属权已完全转移。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318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客户端行为：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收到 `MOVED` 错误后，客户端必须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更新本地的槽-节点映射表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，并将当前及后续所有针对该槽的请求直接发送到新的目标节点。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032000"/>
            <a:ext cx="5207000" cy="508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20828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336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85000" y="23368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ASK 临时重定向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2978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32F3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77000" y="3175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适用场景：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哈希槽正处于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迁移过程中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（数据尚未完全同步），请求的键可能存在于源节点或已迁移至目标节点，这是一种临时的中间状态。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4318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客户端行为：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收到 `ASK` 错误后，先向目标节点发送 `ASKING` 命令解锁槽，再重发原请求。此过程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不更新本地映射表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，仅对本次请求生效。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F99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52500" y="58166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核心差异总结：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MOVED 是“路由表更新指令”，影响未来所有请求；ASK 是“单次通行许可”，仅解决当前迁移过程中的偶发访问问题，不改变客户端对集群拓扑的认知。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数据分布：哈希槽 (Hash Slot)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508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349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/ 哈希槽计算机制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84500"/>
            <a:ext cx="4699000" cy="698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31115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CRC16(key) % 16384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937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将所有数据映射到 0 到 16383 这 16384 个哈希槽中，每个节点负责一部分槽位。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均匀分布：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 CRC16 哈希函数将任意键转换为整数，再通过取模运算确定槽位，保证数据分散。</a:t>
            </a:r>
            <a:endParaRPr lang="en-US" sz="1400" b="0" i="0" u="none" strike="noStrike">
              <a:solidFill>
                <a:srgbClr val="374151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520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2032000"/>
            <a:ext cx="5207000" cy="508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2349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/ 哈希标签 (Hash Tag)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984500"/>
            <a:ext cx="4699000" cy="698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604000" y="31115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仅计算 {} 包裹部分的哈希值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3937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为支持多键操作，Redis 允许通过哈希标签强制多个键分配到同一哈希槽。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同槽策略：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若键包含 `{}`，仅计算括号内的字符串哈希。例如 `user:{1001}:info` 和 `user:{1001}:order` 会被映射到同一节点。</a:t>
            </a:r>
            <a:endParaRPr lang="en-US" sz="1400" b="0" i="0" u="none" strike="noStrike">
              <a:solidFill>
                <a:srgbClr val="374151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16384 个哈希槽的设计是 Redis Cluster 实现水平扩展和高性能数据分片的核心基础。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Cluster的局限性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28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多键操作范围受限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857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仅支持所有键映射到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同一哈希槽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的多键命令（如 MGET、SUNION）。跨槽操作会直接抛出错误，增加了业务层的Key设计与适配成本。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48500" y="228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事务必须单槽执行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857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MULTI/EXEC 事务块内的所有命令必须操作同一哈希槽。这意味着无法在一个原子事务中跨节点修改数据，限制了复杂业务逻辑的原子性保障。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445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87500" y="444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仅支持单数据库(DB 0)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016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集群模式下强制使用数据库 0，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SELECT 命令不可用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。不同业务的数据隔离不能依赖逻辑数据库，必须在应用层通过 Key 前缀或命名空间来实现。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445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444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异步复制存在数据丢失风险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5016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主从节点间采用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异步复制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机制。若主节点在将写命令同步给从节点前意外宕机，切换后新主节点可能会丢失这部分未同步的数据，无法做到强一致性。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Cluster的适用场景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73200" y="2159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大规模水平扩展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C6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突破单节点内存与性能瓶颈，通过分片技术弹性扩容，轻松支撑TB级数据存储与百万级并发访问。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1905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159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18100" y="2159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高可用性保障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60900" y="2667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C6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多副本数据冗余存储，配合自动故障检测与主从切换机制，确保服务秒级恢复，满足关键业务连续性需求。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1905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159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63000" y="2159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单键操作模式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05800" y="2667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C6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以单键为核心的极简访问模型，适配高速读写与低延迟场景，完美契合频繁的单点数据查询与更新操作。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典型应用场景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826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0165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33500" y="5016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Session 存储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" y="5461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636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分布式环境下的用户会话共享，实现无状态服务架构，保障登录态一致性与高并发访问。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467100" y="4826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57600" y="5016500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038600" y="5016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实时排行榜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657600" y="5461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636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基于Sorted Set实现毫秒级榜单更新，完美支持游戏排名、热榜推荐等高频动态榜单场景。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172200" y="4826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2700" y="5016500"/>
            <a:ext cx="279400" cy="279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743700" y="5016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高频计数器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62700" y="5461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636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利用原子性自增操作，精准统计页面UV/PV、点赞数、库存余量等高频变动的实时数据。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877300" y="4826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67800" y="5016500"/>
            <a:ext cx="279400" cy="279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448800" y="5016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轻量消息队列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067800" y="5461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636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基于List或Stream结构实现简单的生产消费模型，适用于异步解耦、日志收集与削峰填谷。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第一章小结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60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226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核心机制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68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基于哈希槽实现数据分片，利用主从复制保障数据冗余，配合自动故障转移机制，确保集群服务不中断，实现高可用与数据安全。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606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10400" y="226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架构特点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768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采用完全去中心化的无中心架构，所有节点地位平等，无单点故障风险，可灵活扩展节点数量，提升系统的容错能力与扩展性。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4196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49400" y="441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客户端交互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927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 `MOVED` 指令处理槽的迁移重定向，`ASK` 指令应对临时重定向场景，智能定位数据节点，保障客户端与集群间的高效通信。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4196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10400" y="441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适用场景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927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专为大规模分布式缓存设计，完美适配高并发读写、海量数据存储的业务场景，支持水平线性扩展，满足业务流量的弹性增长需求。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016000"/>
            <a:ext cx="381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794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 ElastiCache 深度解析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3815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cap="flat" cmpd="sng">
            <a:solidFill>
              <a:srgbClr val="E68A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4826000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9637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从架构部署到性能调优，全方位解析 AWS 托管缓存服务的核心优势与最佳实践。深入掌握如何利用 ElastiCache 构建低延迟、高可用的实时数据层，为云端应用注入毫秒级响应速度，支撑业务高并发场景。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287000" y="5461000"/>
            <a:ext cx="1524000" cy="1524000"/>
          </a:xfrm>
          <a:prstGeom prst="ellipse">
            <a:avLst/>
          </a:prstGeom>
          <a:solidFill>
            <a:srgbClr val="FF9900">
              <a:alpha val="10000"/>
            </a:srgbClr>
          </a:solidFill>
          <a:ln cap="flat" cmpd="sng">
            <a:solidFill>
              <a:srgbClr val="E68A0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ElastiCache服务概述：托管的强大缓存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145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1028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Amazon ElastiCache 是一项完全托管的内存缓存服务，兼容 Valkey、Redis OSS 和 Memcached 协议。它通过将频繁访问的热点数据加载到内存中，为应用提供亚毫秒级的极速响应，是构建低延迟、高吞吐量现代应用的核心组件。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核心优势与关键特性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619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36195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全托管运维体验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038600"/>
            <a:ext cx="304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 负责硬件配置、软件安装、补丁更新及故障自动恢复，彻底释放运维压力，让您聚焦业务创新。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3429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3619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53000" y="36195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亚毫秒级极速响应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4038600"/>
            <a:ext cx="304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基于内存的高性能读写架构，吞吐量远超传统磁盘数据库，轻松支撑秒杀、直播等高并发业务场景。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3429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3619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572500" y="36195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99.99% 服务可用性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91500" y="4038600"/>
            <a:ext cx="304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支持多可用区 (Multi-AZ) 部署与自动故障转移，配合节点自愈能力，确保业务持续稳定不中断。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080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270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33500" y="5270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灵活的容量弹性伸缩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2500" y="56896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根据业务负载需求，在线进行垂直扩容（升级节点规格）或水平伸缩（增减节点数量），从容应对流量洪峰，实现成本与性能的最优平衡。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86500" y="5080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5270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858000" y="5270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企业级安全合规保障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56896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提供传输中（SSL/TLS）与静态数据加密，结合 VPC 网络隔离、安全组策略及 IAM 精细权限管控，全方位保障数据安全与合规。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支持的引擎：Valkey, Redis OSS, Memcached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68500"/>
            <a:ext cx="33782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68500"/>
            <a:ext cx="3378200" cy="381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2222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006600" y="23114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01. Valkey (推荐)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65200" y="3238500"/>
            <a:ext cx="2971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Linux基金会托管的开源Redis分支，性能更强、成本更低。完全兼容Redis生态，是云原生环境下的理想缓存选择，兼顾了高性能与社区长期支持。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1968500"/>
            <a:ext cx="33782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06900" y="1968500"/>
            <a:ext cx="3378200" cy="38100"/>
          </a:xfrm>
          <a:prstGeom prst="roundRect">
            <a:avLst>
              <a:gd name="adj" fmla="val 0"/>
            </a:avLst>
          </a:prstGeom>
          <a:solidFill>
            <a:srgbClr val="D1D5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60900" y="2222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5651500" y="23114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02. Redis OSS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10100" y="3238500"/>
            <a:ext cx="2971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经典的开源内存数据库，拥有极其成熟的生态系统和丰富的数据结构。功能稳定可靠，适用于会话管理、排行榜、实时分析等多种复杂业务场景。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1968500"/>
            <a:ext cx="33782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51800" y="1968500"/>
            <a:ext cx="3378200" cy="38100"/>
          </a:xfrm>
          <a:prstGeom prst="roundRect">
            <a:avLst>
              <a:gd name="adj" fmla="val 0"/>
            </a:avLst>
          </a:prstGeom>
          <a:solidFill>
            <a:srgbClr val="D1D5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5800" y="2222500"/>
            <a:ext cx="889000" cy="889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296400" y="23114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03. Memcached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55000" y="3238500"/>
            <a:ext cx="2971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轻量级、分布式的内存对象缓存系统。专注于简单的键值存储，以极高的并发处理能力和低延迟著称，是静态内容缓存、数据库查询结果缓存的高效解决方案。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2705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5270500"/>
            <a:ext cx="50800" cy="10795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1400" y="56261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24000" y="5435600"/>
            <a:ext cx="977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选型建议：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若您正在构建新的应用或进行架构升级，</a:t>
            </a:r>
            <a:r>
              <a:rPr lang="en-US" sz="14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Valkey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是我们的首选推荐。它提供了与Redis OSS相同的核心功能，但在性能表现和成本效益上更具优势，同时由Linux基金会提供长期的开源治理保障。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部署模式深度对比：Cluster Mode Disabled vs. Enabled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20955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Cluster Mode Disabled (单分片架构)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046">
            <a:off x="952508" y="266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32F3E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8956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8575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数据分片：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单分片，无分区机制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65500" y="28956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683000" y="28575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分片数量：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固定为 1 个分片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7211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36830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适用场景：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数据集小，读多写少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65500" y="37211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683000" y="36830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扩展能力：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仅支持纵向扩展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45466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270000" y="45085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写入吞吐：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受限于单节点性能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65500" y="45466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3683000" y="45085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在线重分片：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不支持该操作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5397500"/>
            <a:ext cx="4826000" cy="571500"/>
          </a:xfrm>
          <a:prstGeom prst="roundRect">
            <a:avLst>
              <a:gd name="adj" fmla="val 0"/>
            </a:avLst>
          </a:prstGeom>
          <a:solidFill>
            <a:srgbClr val="232F3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4864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💡 适合业务起步阶段，运维简单，成本较低，但无法应对数据量和流量的爆发式增长。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1905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9900">
              <a:alpha val="10000"/>
            </a:srgbClr>
          </a:solidFill>
          <a:ln w="12700" cap="flat" cmpd="sng">
            <a:solidFill>
              <a:srgbClr val="FF99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13500" y="20955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Cluster Mode Enabled (多分片架构)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9046">
            <a:off x="6413508" y="266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4" name="Picture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13500" y="28956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731000" y="28575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数据分片：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自动跨分片分区存储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26500" y="289560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144000" y="28575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分片数量：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 1 至 500 个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13500" y="3721100"/>
            <a:ext cx="254000" cy="254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731000" y="36830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适用场景：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海量数据，高并发写入</a:t>
            </a:r>
            <a:endParaRPr lang="en-US" sz="11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826500" y="3721100"/>
            <a:ext cx="254000" cy="254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144000" y="36830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扩展能力：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支持灵活横向扩展</a:t>
            </a:r>
            <a:endParaRPr lang="en-US" sz="1100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13500" y="4546600"/>
            <a:ext cx="254000" cy="254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6731000" y="45085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写入吞吐：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随分片增加线性提升</a:t>
            </a:r>
            <a:endParaRPr lang="en-US" sz="1100"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826500" y="4546600"/>
            <a:ext cx="254000" cy="2540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9144000" y="45085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在线重分片：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支持，无缝扩缩容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413500" y="5397500"/>
            <a:ext cx="4826000" cy="571500"/>
          </a:xfrm>
          <a:prstGeom prst="roundRect">
            <a:avLst>
              <a:gd name="adj" fmla="val 0"/>
            </a:avLst>
          </a:prstGeom>
          <a:solidFill>
            <a:srgbClr val="FF99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477000" y="54864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A341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🚀 专为高可用、高吞吐的生产级应用设计，能够随着业务增长动态扩容，消除性能瓶颈。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如何选择部署模式？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FF99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Cluster Mode Disabled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990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1115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30734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单节点可承载：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数据集规模较小，能够完全容纳在单个节点的内存中，无需进行数据分片。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937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8989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读密集型场景：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业务以读取操作为主，可通过增加只读副本节点的方式，灵活扩展读取吞吐量。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26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7879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极简运维管理：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架构简单直观，部署和维护成本低，非常适合对系统复杂度敏感的业务场景。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905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FF99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Cluster Mode Enabled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990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1115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30734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海量数据存储：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数据集规模超出单节点内存上限，必须通过分片技术将数据分布式存储在多个节点上。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9370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38989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高并发写入：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面对高频的写入负载，利用多个分片的主节点并行处理，有效分担写入压力。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4826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47879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极致弹性扩展：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支持随业务增长动态增加分片数量，持续提升系统的吞吐量与水平扩展能力。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651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FF99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52500" y="57912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4530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💡 决策指南：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从业务数据规模、读写比例及未来增长预期出发。若为初创或小规模场景，Disabled模式是理想起点；若数据量大、写入频繁，Enabled模式是必然选择。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部署选项：基于节点 vs. 无服务器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基于节点的集群 (Node-based)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提供对集群资源的完全控制权，支持自定义节点规格、数量及扩缩容策略。非常适合负载稳定、可预测的业务场景，能够实现极致的性能调优与资源利用率最大化。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12570" b="12570"/>
          <a:stretch>
            <a:fillRect/>
          </a:stretch>
        </p:blipFill>
        <p:spPr>
          <a:xfrm>
            <a:off x="1016000" y="3810000"/>
            <a:ext cx="4699000" cy="222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8" name="AutoShape 8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无服务器架构 (Serverless)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540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无需手动规划容量或管理节点，系统根据流量自动弹性扩缩容，并按实际使用量计费。完美适配突发、不可预测或间歇性的业务负载，有效消除闲置资源成本。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l="7927" r="7927"/>
          <a:stretch>
            <a:fillRect/>
          </a:stretch>
        </p:blipFill>
        <p:spPr>
          <a:xfrm>
            <a:off x="6477000" y="3810000"/>
            <a:ext cx="4699000" cy="222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基础设施即代码 (IaC) - Terraform部署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415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cap="flat" cmpd="sng">
            <a:solidFill>
              <a:srgbClr val="E6CFCF">
                <a:alpha val="6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574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930400"/>
            <a:ext cx="419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版本化管理，全程可溯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将基础设施配置完全代码化，纳入Git等版本控制系统，所有变更可记录、可审计、可回滚，告别运维“黑盒”。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cap="flat" cmpd="sng">
            <a:solidFill>
              <a:srgbClr val="E6CFCF">
                <a:alpha val="6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179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3390900"/>
            <a:ext cx="419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自动化编排，提效降本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通过脚本实现一键部署、弹性扩缩容与资源销毁，消除人工操作的延迟与误差，大幅提升资源交付效率。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7625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cap="flat" cmpd="sng">
            <a:solidFill>
              <a:srgbClr val="E6CFCF">
                <a:alpha val="6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9784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4851400"/>
            <a:ext cx="419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环境一致，杜绝漂移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确保开发、测试、生产环境配置严格一致，从源头解决“在我电脑上能运行”的问题，彻底消除配置漂移。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2032000"/>
            <a:ext cx="5334000" cy="3429000"/>
          </a:xfrm>
          <a:prstGeom prst="roundRect">
            <a:avLst>
              <a:gd name="adj" fmla="val 0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4B5563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2032000"/>
            <a:ext cx="5334000" cy="508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13500" y="2222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配置示例：Serverless ElastiCache (HCL)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27305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resource</a:t>
            </a:r>
            <a:r>
              <a:rPr lang="en-US" sz="13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"aws_elasticache_serverless_cache" "demo" {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engine</a:t>
            </a:r>
            <a:r>
              <a:rPr lang="en-US" sz="13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"valkey"</a:t>
            </a:r>
            <a:r>
              <a:rPr lang="en-US" sz="1300" b="0" i="0" u="none" strike="noStrike">
                <a:solidFill>
                  <a:srgbClr val="6EA86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兼容 Redis 7.2+</a:t>
            </a:r>
            <a:endParaRPr lang="en-US" sz="1300" b="0" i="0" u="none" strike="noStrike">
              <a:solidFill>
                <a:srgbClr val="6EA86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name</a:t>
            </a:r>
            <a:r>
              <a:rPr lang="en-US" sz="13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"my-cache-demo"</a:t>
            </a:r>
            <a:endParaRPr lang="en-US" sz="1300" b="0" i="0" u="none" strike="noStrike">
              <a:solidFill>
                <a:srgbClr val="E5E7E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security_group_ids</a:t>
            </a:r>
            <a:r>
              <a:rPr lang="en-US" sz="13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[aws_sg.cache.id]</a:t>
            </a:r>
            <a:endParaRPr lang="en-US" sz="1300" b="0" i="0" u="none" strike="noStrike">
              <a:solidFill>
                <a:srgbClr val="E5E7E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cache_usage_limits</a:t>
            </a:r>
            <a:r>
              <a:rPr lang="en-US" sz="13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lang="en-US" sz="1300" b="0" i="0" u="none" strike="noStrike">
              <a:solidFill>
                <a:srgbClr val="E5E7E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data_storage</a:t>
            </a:r>
            <a:r>
              <a:rPr lang="en-US" sz="13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 maximum = 50, unit = "GB" }</a:t>
            </a:r>
            <a:endParaRPr lang="en-US" sz="1300" b="0" i="0" u="none" strike="noStrike">
              <a:solidFill>
                <a:srgbClr val="E5E7E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300" b="0" i="0" u="none" strike="noStrike">
              <a:solidFill>
                <a:srgbClr val="E5E7E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300" b="0" i="0" u="none" strike="noStrike">
              <a:solidFill>
                <a:srgbClr val="E5E7E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56515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“以代码定义基础设施，让云资源的管理变得像软件开发一样高效、可靠。”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安全性最佳实践：网络隔离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4826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8" r="58"/>
          <a:stretch>
            <a:fillRect/>
          </a:stretch>
        </p:blipFill>
        <p:spPr>
          <a:xfrm>
            <a:off x="1016000" y="2286000"/>
            <a:ext cx="43180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52705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 AWS 区域与可用区架构，构建多层级的网络隔离屏障，确保数据传输的私密性与基础设施的逻辑隔离。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969000" y="2032000"/>
            <a:ext cx="5588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FF99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969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3800" y="22606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781800" y="22352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部署在私有 VPC 子网中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73800" y="2768600"/>
            <a:ext cx="501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始终将 ElastiCache 集群部署在 VPC 的私有子网内，从网络架构层面拒绝直接的公网访问。这一措施能有效阻断外部非授权的扫描与攻击尝试，保障缓存层的隐蔽性。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969000" y="4191000"/>
            <a:ext cx="5588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FF99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969000" y="4191000"/>
            <a:ext cx="76200" cy="18415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3800" y="44196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781800" y="43942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严格控制安全组流量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73800" y="4927600"/>
            <a:ext cx="501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配置安全组规则，仅允许来自应用服务器所在安全组的流量访问集群端口（如 6379）。严禁使用 `0.0.0.0/0` 这样的开放规则，通过白名单机制确保访问来源可信。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安全性最佳实践：加密与认证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全链路数据加密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111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3073400"/>
            <a:ext cx="438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传输中加密 (TLS)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25F6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启用 TLS 1.2+ 协议建立端到端加密通道，确保数据在客户端与服务器间传输时不被窃听或篡改，筑牢网络传输安全防线。</a:t>
            </a:r>
            <a:endParaRPr lang="en-US" sz="1300" b="0" i="0" u="none" strike="noStrike">
              <a:solidFill>
                <a:srgbClr val="525F6F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508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4470400"/>
            <a:ext cx="438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静态加密 (KMS)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25F6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使用 AWS KMS 托管密钥对磁盘数据及快照执行 AES-256 加密，确保数据在静止状态下的安全性，完全符合企业合规与审计要求。</a:t>
            </a:r>
            <a:endParaRPr lang="en-US" sz="1300" b="0" i="0" u="none" strike="noStrike">
              <a:solidFill>
                <a:srgbClr val="525F6F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1905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身份认证与权限管控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91">
            <a:off x="6477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111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21500" y="3073400"/>
            <a:ext cx="438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密码认证 (AUTH)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25F6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配置高强度的连接密码，强制所有客户端在建立连接时进行身份校验，有效拦截未经授权的访问尝试，作为集群的第一道安全屏障。</a:t>
            </a:r>
            <a:endParaRPr lang="en-US" sz="1300" b="0" i="0" u="none" strike="noStrike">
              <a:solidFill>
                <a:srgbClr val="525F6F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508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21500" y="4470400"/>
            <a:ext cx="438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IAM 角色与权限控制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25F6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 IAM 策略实现最小权限原则，精细化控制用户对集群的管理与操作权限，防止越权访问，并提供完整的操作审计日志。</a:t>
            </a:r>
            <a:endParaRPr lang="en-US" sz="1300" b="0" i="0" u="none" strike="noStrike">
              <a:solidFill>
                <a:srgbClr val="525F6F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监控与报警：关键指标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53" b="153"/>
          <a:stretch>
            <a:fillRect/>
          </a:stretch>
        </p:blipFill>
        <p:spPr>
          <a:xfrm>
            <a:off x="762000" y="1905000"/>
            <a:ext cx="2794000" cy="2349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445000"/>
            <a:ext cx="2794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4572000"/>
            <a:ext cx="2540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Amazon CloudWatch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提供全托管的实时监控与可观测性服务，能够持续追踪 Valkey/Redis 集群的核心运行指标，助力运维人员快速定位性能瓶颈，及时发现潜在的异常风险。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937000" y="1905000"/>
            <a:ext cx="400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7500" y="2095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635500" y="2095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CPU 资源负载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127500" y="2603500"/>
            <a:ext cx="361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重点关注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EngineCPUUtilization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，反映引擎进程的计算负载，是判断节点是否过载及是否需要扩容的核心依据。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64500" y="1905000"/>
            <a:ext cx="400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09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763000" y="2095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内存与交换空间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55000" y="2603500"/>
            <a:ext cx="361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监控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FreeableMemory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剩余容量与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SwapUsage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交换分区使用情况，防止内存耗尽引发服务OOM或性能骤降。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937000" y="3492500"/>
            <a:ext cx="400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27500" y="3683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635500" y="3683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客户端连接规模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127500" y="4191000"/>
            <a:ext cx="361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CurrConnections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查看当前活跃连接数，需重点关注是否达到实例规格的最大连接数限制，避免拒绝服务。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64500" y="3492500"/>
            <a:ext cx="400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55000" y="3683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763000" y="3683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缓存服务有效性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255000" y="4191000"/>
            <a:ext cx="361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计算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CacheHits / CacheMisses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比值，命中率过低通常意味着缓存策略失效、热点Key未命中或数据过期策略不当。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937000" y="5080000"/>
            <a:ext cx="400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27500" y="5270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4635500" y="5270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主从复制同步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127500" y="5778500"/>
            <a:ext cx="361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监测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ReplicationLag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延迟时间，若延迟过高，会直接影响读写分离架构下的从节点数据一致性与可用性。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064500" y="5080000"/>
            <a:ext cx="400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55000" y="52705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763000" y="5270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读写性能响应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255000" y="5778500"/>
            <a:ext cx="361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分析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Read/Write Latency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读写耗时趋势，指标突增通常代表实例负载上升、网络拥堵或复杂命令执行过多。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监控与报警：报警设置建议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为关键指标配置实时报警阈值，是保障系统高可用的最后一道防线。通过对核心资源、数据同步及连接状态的持续监测，能够在故障发生前或初期快速响应，将业务影响降至最低。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984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959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CPU 资源过载预警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4036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阈值：EngineCPUUtilization &gt; 70%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当计算资源耗尽时，会直接导致命令执行阻塞，需立即扩容或优化热点Key逻辑。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2794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984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53000" y="2959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内存水位异常告警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34036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阈值：SwapUsage &gt; 0 或剩余内存 &lt; 10%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出现交换分区使用意味着物理内存已耗尽，会引发严重的性能抖动，需紧急扩容。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2794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2984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572500" y="2959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数据同步延迟监测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91500" y="34036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阈值：ReplicationLag &gt; 1000ms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主从同步延迟过高会导致读从节点数据不一致，直接影响读写分离架构的正确性。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699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889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33500" y="48641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缓存穿透与雪崩告警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" y="5308600"/>
            <a:ext cx="488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阈值：CacheMisses 突增50%以上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大量请求绕过缓存直接冲击数据库，极易引发数据库连接池耗尽或宕机，需立即检查Key设计或增加防护。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159500" y="4699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4889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731000" y="48641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客户端连接资源泄漏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5308600"/>
            <a:ext cx="488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阈值：CurrConnections 持续增长且无回落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未释放的连接会耗尽Redis连接数限制，导致新请求无法建立连接，需排查应用侧连接池配置。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备份与恢复策略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03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自动备份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配置每天自动创建集群快照，支持自定义保留期（最长35天），实现自动化的数据持续保护，降低人为操作风险。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48500" y="203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手动备份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540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支持随时按需手动创建快照，手动快照不会自动过期，适合用于版本归档、重大变更前的灾备留存或长期合规存储。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746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000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87500" y="4000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恢复至新集群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508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基于任意有效快照快速创建全新的ElastiCache集群，适用于数据迁移、环境克隆、业务扩展或故障后的快速服务重建。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746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000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4000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时间点恢复 (PITR)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508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支持将集群恢复到过去35天内的任意时间点，能够精准应对误操作、数据意外删除或应用程序逻辑错误导致的数据损坏。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588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99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5588000"/>
            <a:ext cx="50800" cy="9525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905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460500" y="5740400"/>
            <a:ext cx="977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最佳实践：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建议同时启用自动备份与PITR功能，并建立定期的恢复演练机制，通过实际恢复测试验证备份的有效性与完整性，确保在极端故障场景下的数据可恢复性。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性能优化：引擎选择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为何优先选择 Valkey？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2603500" cy="1079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438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95400" y="24384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性能翻倍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14400" y="28194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增强型I/O线程，吞吐量较Redis OSS提升一倍，P99延迟大幅降低。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2286000"/>
            <a:ext cx="2603500" cy="1079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44900" y="2438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25900" y="24384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内存节省40%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44900" y="28194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Valkey 8.x+ 深度内存重构，有效减少冗余开销，提升单节点容量。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492500"/>
            <a:ext cx="2603500" cy="1079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36449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95400" y="36449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成本降低20%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14400" y="40259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同等规格节点单价更低，配合内存优化，整体TCO显著下降。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492500" y="3492500"/>
            <a:ext cx="2603500" cy="10795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44900" y="36449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025900" y="36449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功能持续增强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644900" y="40259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原生支持全文搜索、复杂聚合分析，紧跟开源社区创新步伐。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迁移后成本显著下降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rcRect l="21637" r="21637"/>
          <a:stretch>
            <a:fillRect/>
          </a:stretch>
        </p:blipFill>
        <p:spPr>
          <a:xfrm>
            <a:off x="6477000" y="2286000"/>
            <a:ext cx="4953000" cy="2286000"/>
          </a:xfrm>
          <a:prstGeom prst="roundRect">
            <a:avLst>
              <a:gd name="adj" fmla="val 6666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762000" y="4889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三种平滑迁移路径，业务无感知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3975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232F3E">
              <a:alpha val="5000"/>
            </a:srgbClr>
          </a:solidFill>
          <a:ln w="12700" cap="flat" cmpd="sng">
            <a:solidFill>
              <a:srgbClr val="232F3E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2500" y="55626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333500" y="55626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原地升级 (In-place)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52500" y="59436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操作最简单、速度最快，适用于大多数场景，可实现零停机升级。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381500" y="53975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232F3E">
              <a:alpha val="5000"/>
            </a:srgbClr>
          </a:solidFill>
          <a:ln w="12700" cap="flat" cmpd="sng">
            <a:solidFill>
              <a:srgbClr val="232F3E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72000" y="55626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4953000" y="55626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快照迁移 (Snapshot)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性能优化：参数调优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36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368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内存淘汰策略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921000"/>
            <a:ext cx="287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maxmemory-policy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211">
            <a:off x="1016014" y="3359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32F3E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5560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当内存达到阈值时的键移除规则。推荐使用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allkeys-lru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（回收最近最少使用的键）或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volatile-lru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（仅回收带过期属性的键），以最大化缓存命中率。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942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942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336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56200" y="23368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预留内存保护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48200" y="2921000"/>
            <a:ext cx="287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reserved-memory-percent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211">
            <a:off x="4648214" y="3359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32F3E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648200" y="35560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专为后台进程（如RDB持久化、主从复制）预留独立内存空间。避免因内存资源被数据层耗尽而触发系统SWAP交换，防止性能断崖式下跌及OOM进程被杀。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26400" y="2032000"/>
            <a:ext cx="33782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264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99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23368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788400" y="23368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异步删除机制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280400" y="2921000"/>
            <a:ext cx="287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lazyfree-lazy-*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5211">
            <a:off x="8280414" y="3359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32F3E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280400" y="35560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开启lazyfree-lazy-eviction、expire等配置，将大键删除操作从主线程剥离至后台线程执行。彻底消除删除大量数据时的主线程阻塞，保证服务延迟稳定。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524500"/>
            <a:ext cx="10642600" cy="7620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52500" y="5689600"/>
            <a:ext cx="10388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💡 核心价值：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通过精细化的参数配置，从内存管理和线程模型两个维度消除潜在的性能瓶颈，确保Redis在高并发场景下的稳定性与低延迟表现。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性能优化：客户端优化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03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00200" y="2641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使用连接池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3295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556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避免频繁创建和销毁连接，消除TCP握手与资源初始化的开销，这是提升客户端性能最基础也最关键的一步，能显著降低延迟并提升吞吐量。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286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603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32400" y="2641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启用 Pipeline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48214" y="3295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48200" y="3556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将多个命令打包批量发送，大幅减少网络往返次数(RTT)。Valkey 9.0 版本对其进行了深度优化，实测可带来约</a:t>
            </a:r>
            <a:r>
              <a:rPr lang="en-US" sz="14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40%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的性能与吞吐量提升。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2286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2603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64600" y="2641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优选 GLIDE 客户端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280414" y="3295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80400" y="3556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 联合开发的高性能客户端，内置 AZ 亲和路由策略。可智能识别并优先访问同可用区的节点副本，有效规避跨区传输损耗，显著降低延迟并提升系统可用性。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成本优化：选择合适的部署模式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476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4765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可预测工作负载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1079509" y="3105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79500" y="3365500"/>
            <a:ext cx="457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采用基于节点的集群部署方案，适配流量稳定、可提前预估的业务场景。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通过组合使用</a:t>
            </a:r>
            <a:r>
              <a:rPr lang="en-US" sz="14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预留实例 (RI)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或数据库节省计划，相比按需付费模式，最高可节省</a:t>
            </a:r>
            <a:r>
              <a:rPr lang="en-US" sz="16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55%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的计算成本，显著降低长期运营开支。</a:t>
            </a:r>
            <a:endParaRPr lang="en-US" sz="1400" b="0" i="0" u="none" strike="noStrike">
              <a:solidFill>
                <a:srgbClr val="374151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2159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476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48500" y="24765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不可预测工作负载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549">
            <a:off x="6540509" y="3105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99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40500" y="3365500"/>
            <a:ext cx="457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选用 Serverless 无服务器架构，实现资源的毫秒级自动弹性伸缩，从容应对突发流量。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采用</a:t>
            </a:r>
            <a:r>
              <a:rPr lang="en-US" sz="14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按实际用量付费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模式，无需提前预留计算资源，彻底杜绝闲置资源的成本浪费，让每一分预算都花在真实的业务消耗上。</a:t>
            </a:r>
            <a:endParaRPr lang="en-US" sz="1400" b="0" i="0" u="none" strike="noStrike">
              <a:solidFill>
                <a:srgbClr val="374151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651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F99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58166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💡 架构建议：根据业务负载的波动特性，灵活组合“预留容量”与“Serverless”两种模式，在保障性能的同时实现成本与效率的最优平衡。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成本优化：实例类型选择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优先选择 Graviton 实例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11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30734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ARM 架构原生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607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基于AWS自研芯片，专为云环境深度优化，能效比更高。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9000" y="3111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810000" y="30734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极致性价比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607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相比同规格x86实例，在相同预算下提供更多计算能力。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318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42799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性能完全对标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607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在通用计算、容器化和微服务场景下，性能表现优异。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9000" y="4318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810000" y="42799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成本直降 20%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607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同等配置下，计算成本显著降低，直接节省开支。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2032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2286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配置弹性自动伸缩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238500"/>
            <a:ext cx="914400" cy="914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620000" y="3238500"/>
            <a:ext cx="3683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按需扩容，杜绝资源浪费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2607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 CPU 利用率、网络流量或自定义业务指标，自动调整节点数量。负载高峰时自动扩容保障稳定性，低峰期自动缩容避免闲置成本，实现资源利用最大化。</a:t>
            </a:r>
            <a:endParaRPr lang="en-US" sz="1400" b="0" i="0" u="none" strike="noStrike">
              <a:solidFill>
                <a:srgbClr val="526071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778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FF99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89000" y="59436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7E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💡 核心价值：通过架构升级与弹性策略，实现降本增效的双重收益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最新功能探索：ElastiCache Serverless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5779" r="5779"/>
          <a:stretch>
            <a:fillRect/>
          </a:stretch>
        </p:blipFill>
        <p:spPr>
          <a:xfrm>
            <a:off x="762000" y="1905000"/>
            <a:ext cx="5080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32F3E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445000"/>
            <a:ext cx="508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ElastiCache Serverless 重新定义了云原生缓存体验。它消除了传统缓存服务中复杂的容量规划和手动运维，提供了一种按需自动扩展的架构。无论是应对日常的平稳流量，还是秒杀、大促期间的突发洪峰，都能保持毫秒级的低延迟响应，让您专注于业务创新而非基础设施管理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最新功能探索：ElastiCache for Valkey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2032000"/>
            <a:ext cx="2032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318000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基于社区驱动的高性能内存数据库，全面兼容Redis协议。它不仅继承了Redis的核心优势，更在性能、内存效率与成本控制上实现了突破，是构建云原生高并发应用的理想之选。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064000" y="2032000"/>
            <a:ext cx="3683000" cy="1587500"/>
          </a:xfrm>
          <a:prstGeom prst="roundRect">
            <a:avLst>
              <a:gd name="adj" fmla="val 0"/>
            </a:avLst>
          </a:prstGeom>
          <a:solidFill>
            <a:srgbClr val="FF99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4500" y="2222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635500" y="21971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开源免费 · 零商业限制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254500" y="26416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采用宽松的BSD 3-clause许可证，完全开源且无商业使用限制，消除了潜在的许可费用风险，适合各类商业与非商业项目集成。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937500" y="2032000"/>
            <a:ext cx="3683000" cy="1587500"/>
          </a:xfrm>
          <a:prstGeom prst="roundRect">
            <a:avLst>
              <a:gd name="adj" fmla="val 0"/>
            </a:avLst>
          </a:prstGeom>
          <a:solidFill>
            <a:srgbClr val="FF99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0" y="2222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509000" y="21971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性能飞跃 · 延迟减半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6416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吞吐量相比Redis OSS实现翻倍，P99尾延迟降低50%以上，为高并发、低延迟的实时应用提供强有力的性能支撑。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064000" y="3746500"/>
            <a:ext cx="3683000" cy="1587500"/>
          </a:xfrm>
          <a:prstGeom prst="roundRect">
            <a:avLst>
              <a:gd name="adj" fmla="val 0"/>
            </a:avLst>
          </a:prstGeom>
          <a:solidFill>
            <a:srgbClr val="FF99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54500" y="3937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635500" y="39116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极致内存 · 节省40%资源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254500" y="43561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Valkey 8.x+引入了更先进的内存管理机制，相同数据量下内存占用减少高达40%，有效降低了基础设施的硬件成本。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937500" y="3746500"/>
            <a:ext cx="3683000" cy="1587500"/>
          </a:xfrm>
          <a:prstGeom prst="roundRect">
            <a:avLst>
              <a:gd name="adj" fmla="val 0"/>
            </a:avLst>
          </a:prstGeom>
          <a:solidFill>
            <a:srgbClr val="FF99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28000" y="3937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509000" y="39116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功能进化 · 智能检索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28000" y="43561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9.0版本原生支持全文搜索、复杂聚合查询及混合索引搜索，无需依赖外部搜索引擎即可构建强大的检索功能。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064000" y="5461000"/>
            <a:ext cx="7556500" cy="1016000"/>
          </a:xfrm>
          <a:prstGeom prst="roundRect">
            <a:avLst>
              <a:gd name="adj" fmla="val 0"/>
            </a:avLst>
          </a:prstGeom>
          <a:solidFill>
            <a:srgbClr val="FF99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54500" y="56515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4699000" y="5613400"/>
            <a:ext cx="685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显著的成本优势：节点价格低20%，性价比更高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结合更高的性能密度与更低的节点费用，ElastiCache for Valkey能为企业节省大量的云服务开支，实现降本增效。</a:t>
            </a:r>
            <a:endParaRPr lang="en-US" sz="1300" b="0" i="0" u="none" strike="noStrike">
              <a:solidFill>
                <a:srgbClr val="525252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高级功能：Global Datastore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提供完全托管的跨区域复制能力，打通全球数据链路，为分布式应用构建高可用、低延迟的内存数据层，兼顾极致性能与业务连续性保障。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99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8956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49400" y="2895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弹性主从架构设计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429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支持“1主多从”跨区域部署，包含1个可读写主集群与最多2个只读副本集群。数据自动异步复制，架构灵活易扩展，满足不同规模业务需求。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667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99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第二章小结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49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222500"/>
            <a:ext cx="393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服务价值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提供完全托管、高性能与高可用的弹性缓存服务，大幅降低运维负担，让您专注于核心业务逻辑的开发与迭代。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349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2222500"/>
            <a:ext cx="393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模式选择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依据业务数据量级、读写访问特征及弹性需求，灵活匹配Disabled、Enabled或Serverless部署模式，平衡成本与性能。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08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78000" y="4381500"/>
            <a:ext cx="393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最佳实践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落实网络安全隔离与加密机制，建立全链路监控体系，配置自动备份策略，并持续从资源利用率维度优化成本结构。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5085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239000" y="4381500"/>
            <a:ext cx="393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拥抱未来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积极迁移至Valkey开源引擎，探索Serverless无服务器架构，以更低的延迟、更优的成本效益应对业务的快速变化。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32F3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核心要点回顾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95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2070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Redis Cluster 架构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603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基于哈希槽实现数据分片，通过主从复制与自动故障转移机制，保障系统高可用与数据一致性，轻松应对海量并发访问。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905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095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953000" y="2070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全托管缓存服务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2603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提供托管的 Valkey、Redis 及 Memcached 服务，完全免除底层运维负担，让团队专注于应用开发与业务创新。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905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FF99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445000" y="30480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57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990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谢谢大家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感谢聆听 · 欢迎随时交流与探讨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10176</Words>
  <Application>WPS 演示</Application>
  <PresentationFormat/>
  <Paragraphs>606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8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Source Code Pro</vt:lpstr>
      <vt:lpstr>Segoe Print</vt:lpstr>
      <vt:lpstr>Source Code Pro</vt:lpstr>
      <vt:lpstr>Advent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大连瑞得国旅姜莉莉13942612138</cp:lastModifiedBy>
  <cp:revision>1</cp:revision>
  <dcterms:created xsi:type="dcterms:W3CDTF">2026-08-17T14:22:44Z</dcterms:created>
  <dcterms:modified xsi:type="dcterms:W3CDTF">2026-08-17T14:22:44Z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{"Label":"1","ContentProducer":"001191110102MACQD9K64010000","ProduceID":"7672398792394214368","ReservedCode1":"","ContentPropagator":"","PropagateID":"","ReservedCode2":""}</vt:lpwstr>
  </property>
  <property fmtid="{D5CDD505-2E9C-101B-9397-08002B2CF9AE}" pid="3" name="KSOProductBuildVer">
    <vt:lpwstr>2052-12.1.0.28043</vt:lpwstr>
  </property>
  <property fmtid="{D5CDD505-2E9C-101B-9397-08002B2CF9AE}" pid="4" name="ICV">
    <vt:lpwstr>72D2AA5048254081B0FF29C459FAF60B_12</vt:lpwstr>
  </property>
</Properties>
</file>