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notesSlides/notesSlide1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46" Target="notesSlides/notesSlide18.xml" Type="http://schemas.openxmlformats.org/officeDocument/2006/relationships/notesSlide"/><Relationship Id="rId47" Target="notesSlides/notesSlide19.xml" Type="http://schemas.openxmlformats.org/officeDocument/2006/relationships/notesSlide"/><Relationship Id="rId48" Target="notesSlides/notesSlide20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欢迎参加本次AWS ElastiCache专业培训。在当今快节奏的数字世界中，用户对应用性能的期望达到了前所未有的高度。微秒级的延迟响应已不再是奢侈品，而是必需品。本次培训将深入探讨ElastiCache如何作为一项强大的性能引擎，帮助您构建高性能、高可用、可扩展的应用架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培训将分为七个部分。首先，我们将介绍ElastiCache的核心概念与价值。接着，深入对比Redis和Memcached两大引擎。然后，我们会讲解ElastiCache的核心架构组件。之后，将探讨如何构建高可用和可扩展的架构。第五部分是最佳实践分享。第六部分将介绍定价模型和成本优化策略。最后，我们会进行总结并展望未来趋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首先，我们来了解什么是AWS ElastiCache。简单来说，它是一项完全托管的内存数据存储服务。这意味着您无需关心底层的硬件和软件维护，可以直接使用。它兼容业界主流的开源引擎，如Redis、Memcached和最新的Valkey。其核心优势在于内存优先，能够提供微秒级的超低延迟，极大地提升应用性能。同时，它提供了灵活的部署选项，无论是需要精细控制的节点型部署，还是追求极致简化的无服务器部署，都能满足您的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ElastiCache的核心价值主要体现在三个方面。首先是极致性能，通过内存缓存，它可以将应用的读取性能提升高达80倍，轻松应对高并发场景。其次是简化运维，作为一项完全托管服务，AWS负责了所有繁琐的管理工作，让您可以专注于业务创新。最后是高可用性与持久性，通过多可用区部署和自动故障转移，它能提供高达99.99%的可用性保障，同时Redis引擎还支持数据持久化，确保数据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ElastiCache的应用场景非常广泛。最常见的是作为数据库查询缓存，减轻后端数据库的压力。它也非常适合存储用户会话信息，比如购物车。利用Redis丰富的数据结构，我们可以轻松实现游戏排行榜、实时投票等功能。此外，它还可以作为轻量级消息队列、推荐引擎的缓存层，甚至在新兴的AI应用中扮演重要角色，比如作为AI代理的记忆存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对比ElastiCache支持的两种主要引擎：Redis（及兼容的Valkey）和Memcached。在功能和数据结构方面，Redis/Valkey提供了非常丰富的数据类型，如哈希、列表、有序集合等，这使得它能支持更复杂的业务场景，比如排行榜和消息队列。而Memcached则非常简单，只支持基本的键值对，更适合纯粹的缓存场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性能和架构方面，两者也有显著差异。Memcached是多线程的，能更好地利用多核CPU。而Redis虽然核心操作是单线程，但通过I/O多路复用也能高效工作。在扩展性上，Redis内置了集群模式，支持自动分片，非常强大。Memcached则需要依赖客户端来实现分片。最关键的区别在于持久化和高可用性：Redis支持数据持久化和内置的高可用机制，而Memcached不支持，数据是临时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如何选择合适的引擎呢？简单来说，如果你的应用需要复杂的数据结构、数据持久化或高可用性，那么Redis/Valkey是不二之选。它功能强大，适用于会话存储、排行榜等多种场景。相反，如果你只需要一个简单的、高性能的纯缓存层，数据丢失也无所谓，那么Memcached可能是更轻量、更简单的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我们来了解ElastiCache的核心架构概念。最基本的单位是节点，它就是一个运行缓存软件的EC2实例。多个节点组成一个集群。对于Redis而言，最重要的概念是分片。分片是数据分区的基本单位，通过增加分片数量，我们可以水平扩展存储容量和写性能。这张图清晰地展示了Redis集群模式禁用和启用的区别：禁用时是单分片，启用时是多分片，扩展性更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节点和分片，还有几个重要的概念。复制组是实现高可用的核心，它由一个主节点和多个副本节点组成，主节点负责写，副本节点负责读，并在主节点故障时自动接管。参数组用于配置引擎的行为，就像数据库的配置文件。子网组则定义了集群在VPC中的部署位置，通过将子网分布在多个可用区，可以实现跨可用区的高可用部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我们看看如何构建高可用架构。关键在于启用多可用区部署。如这张架构图所示，我们可以将主节点和副本节点部署在不同的可用区。当主节点所在的可用区发生故障时，ElastiCache会自动将一个副本节点提升为主节点，并更新DNS，整个过程对应用透明，从而实现服务的高可用性，达到99.99%的SLA承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可扩展性方面，ElastiCache提供了两种方式。垂直扩展，即升级或降级节点的实例类型，操作简单，适合快速调整性能。水平扩展则更为灵活，分为读取扩展和写入扩展。读取扩展通过增加副本节点来分担读压力。写入扩展则是通过增加分片数量来提升整体的写能力和存储容量，而且这个过程是在线进行的，无需停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对于追求极致简化的用户，ElastiCache Serverless是一个绝佳选择。它提供自动扩展、零运维和按需付费的能力，让您完全从基础设施管理中解放出来。而对于有全球业务需求的用户，Global Datastore功能可以跨多个AWS区域复制数据，不仅可以用于灾难恢复，还能为全球用户提供低延迟的读取服务。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我们进入最佳实践部分。首先是性能优化。选择合适的节点类型是基础。对于访问模式符合80/20法则的场景，可以利用数据分层功能来降低成本。在客户端层面，使用连接池、优化客户端分片策略，以及启用Redis的增强型I/O线程，都能显著提升性能。此外，设计高效的缓存键和合理设置过期时间也是必不可少的优化手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安全性是任何系统设计的重中之重。首先，必须将ElastiCache集群部署在VPC中，并通过安全组严格控制访问来源。其次，要启用传输中加密和静态加密，确保数据在传输和存储过程中的安全。对于Redis，建议使用其ACL功能进行精细的访问控制。通过这些措施，可以构建一个安全可靠的缓存环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监控与维护同样重要。我们需要通过CloudWatch密切监控CPU使用率、缓存命中率、驱逐数量等关键指标。为这些指标设置告警，可以让我们在问题发生前就采取行动。定期备份数据是防止数据丢失的最后一道防线。同时，及时升级引擎版本，可以确保我们能享受到最新的性能优化和安全更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我们谈谈钱的问题。ElastiCache有两种主要的定价模型。节点型定价类似于EC2的定价，提供按需、预留节点和节省计划三种选项，适合负载稳定的场景。而无服务器定价则更加灵活，它根据实际的存储、计算和I/O用量来计费，没有节点小时费，非常适合负载波动大或不可预测的工作负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了解了定价模型后，我们来看看如何进行成本优化。首先，根据工作负载的特点选择合适的部署模式和定价选项是关键。其次，充分利用数据分层功能，可以在不影响性能的情况下有效降低存储成本。通过监控和调整节点配置，避免资源浪费。使用成本分配标签可以帮助我们更好地进行成本管理和分摊。最后，优化备份策略也能节省一部分S3存储费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最后，我们来总结一下。AWS ElastiCache的核心优势在于其卓越的性能、完全托管的便利性、高可用性、灵活的扩展性以及丰富的功能。展望未来，我们可以看到几个趋势：Valkey的兴起将提供更多选择；Serverless模式将更加普及；性能将持续提升；并且，ElastiCache将与AI/ML应用进行更深度的融合，在新兴领域发挥重要作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我的介绍到此结束。感谢大家的聆听。现在是问答环节，欢迎大家提问。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Relationship Id="rId5" Target="../media/image16.jpe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8.svg" Type="http://schemas.openxmlformats.org/officeDocument/2006/relationships/image"/><Relationship Id="rId11" Target="../media/image29.jpeg" Type="http://schemas.openxmlformats.org/officeDocument/2006/relationships/image"/><Relationship Id="rId12" Target="../media/image30.png" Type="http://schemas.openxmlformats.org/officeDocument/2006/relationships/image"/><Relationship Id="rId13" Target="../media/image31.svg" Type="http://schemas.openxmlformats.org/officeDocument/2006/relationships/image"/><Relationship Id="rId14" Target="../media/image6.png" Type="http://schemas.openxmlformats.org/officeDocument/2006/relationships/image"/><Relationship Id="rId15" Target="../media/image7.svg" Type="http://schemas.openxmlformats.org/officeDocument/2006/relationships/image"/><Relationship Id="rId16" Target="../media/image32.png" Type="http://schemas.openxmlformats.org/officeDocument/2006/relationships/image"/><Relationship Id="rId17" Target="../media/image33.svg" Type="http://schemas.openxmlformats.org/officeDocument/2006/relationships/image"/><Relationship Id="rId18" Target="../notesSlides/notesSlide6.xml" Type="http://schemas.openxmlformats.org/officeDocument/2006/relationships/notesSlide"/><Relationship Id="rId2" Target="../media/image2.jpeg" Type="http://schemas.openxmlformats.org/officeDocument/2006/relationships/image"/><Relationship Id="rId3" Target="../media/image23.jpeg" Type="http://schemas.openxmlformats.org/officeDocument/2006/relationships/image"/><Relationship Id="rId4" Target="../media/image24.jpe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9.svg" Type="http://schemas.openxmlformats.org/officeDocument/2006/relationships/image"/><Relationship Id="rId11" Target="../media/image40.png" Type="http://schemas.openxmlformats.org/officeDocument/2006/relationships/image"/><Relationship Id="rId12" Target="../media/image41.svg" Type="http://schemas.openxmlformats.org/officeDocument/2006/relationships/image"/><Relationship Id="rId13" Target="../media/image42.png" Type="http://schemas.openxmlformats.org/officeDocument/2006/relationships/image"/><Relationship Id="rId14" Target="../media/image43.svg" Type="http://schemas.openxmlformats.org/officeDocument/2006/relationships/image"/><Relationship Id="rId15" Target="../media/image32.png" Type="http://schemas.openxmlformats.org/officeDocument/2006/relationships/image"/><Relationship Id="rId16" Target="../media/image33.svg" Type="http://schemas.openxmlformats.org/officeDocument/2006/relationships/image"/><Relationship Id="rId17" Target="../media/image44.png" Type="http://schemas.openxmlformats.org/officeDocument/2006/relationships/image"/><Relationship Id="rId18" Target="../media/image45.svg" Type="http://schemas.openxmlformats.org/officeDocument/2006/relationships/image"/><Relationship Id="rId19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9.xml" Type="http://schemas.openxmlformats.org/officeDocument/2006/relationships/notesSlide"/><Relationship Id="rId2" Target="../media/image2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51.jpe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1.xml" Type="http://schemas.openxmlformats.org/officeDocument/2006/relationships/notesSlide"/><Relationship Id="rId2" Target="../media/image2.jpeg" Type="http://schemas.openxmlformats.org/officeDocument/2006/relationships/image"/><Relationship Id="rId3" Target="../media/image52.jpe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7.jpeg" Type="http://schemas.openxmlformats.org/officeDocument/2006/relationships/image"/><Relationship Id="rId4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svg" Type="http://schemas.openxmlformats.org/officeDocument/2006/relationships/image"/><Relationship Id="rId12" Target="../media/image65.jpeg" Type="http://schemas.openxmlformats.org/officeDocument/2006/relationships/image"/><Relationship Id="rId13" Target="../media/image46.png" Type="http://schemas.openxmlformats.org/officeDocument/2006/relationships/image"/><Relationship Id="rId14" Target="../media/image47.svg" Type="http://schemas.openxmlformats.org/officeDocument/2006/relationships/image"/><Relationship Id="rId15" Target="../media/image66.png" Type="http://schemas.openxmlformats.org/officeDocument/2006/relationships/image"/><Relationship Id="rId16" Target="../media/image67.svg" Type="http://schemas.openxmlformats.org/officeDocument/2006/relationships/image"/><Relationship Id="rId17" Target="../notesSlides/notesSlide13.xml" Type="http://schemas.openxmlformats.org/officeDocument/2006/relationships/notesSlide"/><Relationship Id="rId2" Target="../media/image2.jpeg" Type="http://schemas.openxmlformats.org/officeDocument/2006/relationships/image"/><Relationship Id="rId3" Target="../media/image58.jpe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svg" Type="http://schemas.openxmlformats.org/officeDocument/2006/relationships/image"/><Relationship Id="rId12" Target="../notesSlides/notesSlide14.xml" Type="http://schemas.openxmlformats.org/officeDocument/2006/relationships/notesSlide"/><Relationship Id="rId2" Target="../media/image2.jpeg" Type="http://schemas.openxmlformats.org/officeDocument/2006/relationships/image"/><Relationship Id="rId3" Target="../media/image68.jpeg" Type="http://schemas.openxmlformats.org/officeDocument/2006/relationships/image"/><Relationship Id="rId4" Target="../media/image69.png" Type="http://schemas.openxmlformats.org/officeDocument/2006/relationships/image"/><Relationship Id="rId5" Target="../media/image7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71.png" Type="http://schemas.openxmlformats.org/officeDocument/2006/relationships/image"/><Relationship Id="rId9" Target="../media/image7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notesSlides/notesSlide15.xml" Type="http://schemas.openxmlformats.org/officeDocument/2006/relationships/notesSlide"/><Relationship Id="rId2" Target="../media/image2.jpeg" Type="http://schemas.openxmlformats.org/officeDocument/2006/relationships/image"/><Relationship Id="rId3" Target="../media/image51.jpe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73.png" Type="http://schemas.openxmlformats.org/officeDocument/2006/relationships/image"/><Relationship Id="rId9" Target="../media/image7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2.png" Type="http://schemas.openxmlformats.org/officeDocument/2006/relationships/image"/><Relationship Id="rId11" Target="../media/image83.svg" Type="http://schemas.openxmlformats.org/officeDocument/2006/relationships/image"/><Relationship Id="rId12" Target="../notesSlides/notesSlide16.xml" Type="http://schemas.openxmlformats.org/officeDocument/2006/relationships/notesSlide"/><Relationship Id="rId2" Target="../media/image2.jpeg" Type="http://schemas.openxmlformats.org/officeDocument/2006/relationships/image"/><Relationship Id="rId3" Target="../media/image75.jpeg" Type="http://schemas.openxmlformats.org/officeDocument/2006/relationships/image"/><Relationship Id="rId4" Target="../media/image76.png" Type="http://schemas.openxmlformats.org/officeDocument/2006/relationships/image"/><Relationship Id="rId5" Target="../media/image77.svg" Type="http://schemas.openxmlformats.org/officeDocument/2006/relationships/image"/><Relationship Id="rId6" Target="../media/image78.png" Type="http://schemas.openxmlformats.org/officeDocument/2006/relationships/image"/><Relationship Id="rId7" Target="../media/image79.svg" Type="http://schemas.openxmlformats.org/officeDocument/2006/relationships/image"/><Relationship Id="rId8" Target="../media/image80.png" Type="http://schemas.openxmlformats.org/officeDocument/2006/relationships/image"/><Relationship Id="rId9" Target="../media/image81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7.svg" Type="http://schemas.openxmlformats.org/officeDocument/2006/relationships/image"/><Relationship Id="rId11" Target="../media/image80.png" Type="http://schemas.openxmlformats.org/officeDocument/2006/relationships/image"/><Relationship Id="rId12" Target="../media/image81.svg" Type="http://schemas.openxmlformats.org/officeDocument/2006/relationships/image"/><Relationship Id="rId13" Target="../notesSlides/notesSlide18.xml" Type="http://schemas.openxmlformats.org/officeDocument/2006/relationships/notesSlide"/><Relationship Id="rId2" Target="../media/image2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84.png" Type="http://schemas.openxmlformats.org/officeDocument/2006/relationships/image"/><Relationship Id="rId8" Target="../media/image85.svg" Type="http://schemas.openxmlformats.org/officeDocument/2006/relationships/image"/><Relationship Id="rId9" Target="../media/image8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5.svg" Type="http://schemas.openxmlformats.org/officeDocument/2006/relationships/image"/><Relationship Id="rId11" Target="../media/image88.png" Type="http://schemas.openxmlformats.org/officeDocument/2006/relationships/image"/><Relationship Id="rId12" Target="../media/image89.svg" Type="http://schemas.openxmlformats.org/officeDocument/2006/relationships/image"/><Relationship Id="rId13" Target="../media/image90.jpe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16" Target="../media/image91.png" Type="http://schemas.openxmlformats.org/officeDocument/2006/relationships/image"/><Relationship Id="rId17" Target="../media/image92.svg" Type="http://schemas.openxmlformats.org/officeDocument/2006/relationships/image"/><Relationship Id="rId18" Target="../media/image93.png" Type="http://schemas.openxmlformats.org/officeDocument/2006/relationships/image"/><Relationship Id="rId19" Target="../media/image94.svg" Type="http://schemas.openxmlformats.org/officeDocument/2006/relationships/image"/><Relationship Id="rId2" Target="../media/image2.jpeg" Type="http://schemas.openxmlformats.org/officeDocument/2006/relationships/image"/><Relationship Id="rId20" Target="../media/image95.png" Type="http://schemas.openxmlformats.org/officeDocument/2006/relationships/image"/><Relationship Id="rId21" Target="../media/image96.svg" Type="http://schemas.openxmlformats.org/officeDocument/2006/relationships/image"/><Relationship Id="rId22" Target="../notesSlides/notesSlide19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8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9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mpd="sng" cap="flat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AWS ElastiCache 深度解析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93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专业培训课程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953000"/>
            <a:ext cx="1524000" cy="508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cmpd="sng" cap="flat">
            <a:solidFill>
              <a:srgbClr val="E68A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461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AWS Professional Services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5461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2026年8月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841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778000" y="18034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核心概念与价值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解析ElastiCache的核心定义，深挖其在性能加速、运维简化与高可用性方面的核心价值，覆盖电商秒杀、实时数据分析等典型应用场景。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238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429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778000" y="33909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引擎对比：Redis vs. Memcached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从数据结构支持、持久化能力、集群架构到性能表现进行全方位对比，结合业务需求场景，提供清晰的引擎选型决策依据。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826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5016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778000" y="49784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核心架构概念解析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深入理解节点、集群、分片与复制组的架构逻辑，掌握参数组与子网组的配置要点，夯实高可用架构设计的理论基础。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651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13500" y="1841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239000" y="18034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高可用与可扩展架构构建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详解Multi-AZ部署与自动故障转移机制，探索水平扩展与垂直扩展的实施策略，以及Serverless和Global Datastore的应用场景。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2857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13500" y="3048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239000" y="30099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架构设计与运维最佳实践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聚焦连接管理、内存优化与数据加密等安全配置，建立全方位的监控指标体系，掌握日常巡检与故障排查的高效方法。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4064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13500" y="4254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239000" y="42164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定价模型与成本优化策略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对比节点型与Serverless定价模式，通过预留实例、自动扩缩容、过期数据清理等策略实现成本的精细化管控与优化。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5270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13500" y="5461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239000" y="54229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总结回顾与未来趋势展望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系统总结ElastiCache的核心优势与应用价值，探讨云原生缓存的演进方向，以及在AI应用与实时计算场景下的未来发展趋势。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核心概念与价值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397000"/>
            <a:ext cx="2032000" cy="203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3048000" y="1397000"/>
            <a:ext cx="83820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什么是AWS ElastiCache？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AWS ElastiCache是一项</a:t>
            </a:r>
            <a:r>
              <a:rPr lang="en-US" b="true" i="false" strike="noStrike" u="none" sz="14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完全托管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的内存数据存储服务，兼容开源的</a:t>
            </a:r>
            <a:r>
              <a:rPr lang="en-US" b="true" i="false" strike="noStrike" u="none" sz="14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Redis、Memcached和Valkey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三大主流引擎。它让您能在云中轻松部署、操作和动态扩展内存缓存层，通过将高频访问数据驻留在内存中，实现比传统磁盘数据库快上百倍的响应速度，是提升应用性能的关键组件。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683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mpd="sng" cap="flat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873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87500" y="3835400"/>
            <a:ext cx="4254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内存优先 · 极致低延迟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数据全量存储于内存，提供微秒级的读写响应能力，相比磁盘数据库实现数量级的性能跃升，从容应对秒杀、实时推荐等高并发场景。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159500" y="3683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mpd="sng" cap="flat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413500" y="3873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985000" y="3835400"/>
            <a:ext cx="4254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全托管运维 · 解放生产力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AWS全权负责底层硬件配置、软件补丁更新、健康监控、故障检测与自动恢复，您无需投入精力维护基础设施，专注业务创新。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1435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mpd="sng" cap="flat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5334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87500" y="5295900"/>
            <a:ext cx="4254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开源兼容 · 零成本迁移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严格兼容Redis、Memcached及Valkey的开源协议标准，现有应用代码、客户端库和开发工具无需修改即可无缝迁移上云。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159500" y="51435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mpd="sng" cap="flat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413500" y="5334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985000" y="5295900"/>
            <a:ext cx="4254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多元部署 · 弹性伸缩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支持Serverless无服务器模式（按请求付费，自动扩缩容）和传统节点型部署（自定义节点规格与集群拓扑），灵活适配业务负载。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核心概念与价值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95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0955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极致性能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67000"/>
            <a:ext cx="2870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Microsecond Latency &amp; 80x Speedup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5211" flipH="false" flipV="false">
            <a:off x="1016014" y="31432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365500"/>
            <a:ext cx="2870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将高频热数据缓存于内存，相比单一数据库，读取性能提升高达80倍。轻松承载每秒数百万次请求，从容应对流量洪峰，大幅减轻后端数据库负载压力。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06900" y="1778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2095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168900" y="20955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简化运维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60900" y="2667000"/>
            <a:ext cx="2870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Fully Managed &amp; Auto-Scaling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5211" flipH="false" flipV="false">
            <a:off x="4660914" y="31432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660900" y="3365500"/>
            <a:ext cx="2870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全托管模式自动处理硬件故障、软件补丁与版本升级。深度集成CloudWatch实现实时监控，并支持在线无损垂直/水平扩缩容，让运维工作化繁为简。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51800" y="1778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05800" y="20955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813800" y="20955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高可用与持久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305800" y="2667000"/>
            <a:ext cx="2870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99.99% SLA &amp; Multi-AZ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5211" flipH="false" flipV="false">
            <a:off x="8305814" y="31432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305800" y="3365500"/>
            <a:ext cx="2870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多可用区(Multi-AZ)部署实现自动故障转移，确保业务连续性。支持数据持久化至磁盘并备份至S3，配合Global Datastore实现跨区域容灾与全球访问。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588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cmpd="sng" cap="flat">
            <a:solidFill>
              <a:srgbClr val="E68A0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16000" y="57404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核心价值总结：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通过内存级的极速响应、零负担的托管运维以及企业级的高可用架构，为现代化应用构建坚实的性能底座与数据安全屏障。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核心概念与价值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875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21534" b="21534"/>
          <a:stretch>
            <a:fillRect/>
          </a:stretch>
        </p:blipFill>
        <p:spPr>
          <a:xfrm rot="0" flipH="false" flipV="false">
            <a:off x="889000" y="1714500"/>
            <a:ext cx="3175000" cy="1651000"/>
          </a:xfrm>
          <a:prstGeom prst="roundRect">
            <a:avLst>
              <a:gd name="adj" fmla="val 6153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3429000"/>
            <a:ext cx="317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数据库查询缓存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3784600"/>
            <a:ext cx="317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缓存热门查询结果，减轻数据库压力，加速应用响应，是提升系统吞吐量的关键手段。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15875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26619" b="26619"/>
          <a:stretch>
            <a:fillRect/>
          </a:stretch>
        </p:blipFill>
        <p:spPr>
          <a:xfrm rot="0" flipH="false" flipV="false">
            <a:off x="4508500" y="1714500"/>
            <a:ext cx="3175000" cy="1651000"/>
          </a:xfrm>
          <a:prstGeom prst="roundRect">
            <a:avLst>
              <a:gd name="adj" fmla="val 6153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4508500" y="3429000"/>
            <a:ext cx="317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分布式会话存储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08500" y="3784600"/>
            <a:ext cx="317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集中存储用户会话信息（如购物车、偏好），实现多实例间状态共享，提升系统扩展性。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15875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rcRect l="0" r="0" t="10984" b="10984"/>
          <a:stretch>
            <a:fillRect/>
          </a:stretch>
        </p:blipFill>
        <p:spPr>
          <a:xfrm rot="0" flipH="false" flipV="false">
            <a:off x="8128000" y="1714500"/>
            <a:ext cx="3175000" cy="1651000"/>
          </a:xfrm>
          <a:prstGeom prst="roundRect">
            <a:avLst>
              <a:gd name="adj" fmla="val 6153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8128000" y="3429000"/>
            <a:ext cx="317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实时排行与计数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3784600"/>
            <a:ext cx="317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利用Sorted Set等结构，毫秒级实现游戏排行榜、实时投票与热门榜单，满足高并发读写。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635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52500" y="4826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333500" y="4826000"/>
            <a:ext cx="273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轻量级消息队列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52324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基于List结构实现异步通信，有效削峰填谷，支撑系统解耦、任务异步处理与延时消息场景。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381500" y="4635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572000" y="48260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4953000" y="4826000"/>
            <a:ext cx="273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智能推荐加速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572000" y="52324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缓存用户画像、行为特征及推荐模型结果，减少计算开销，为用户提供低延迟的个性化内容。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001000" y="4635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191500" y="48260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572500" y="4826000"/>
            <a:ext cx="273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AI 语义与记忆缓存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191500" y="52324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作为LLM语义缓存、Agent长期记忆载体及RAG知识库，减少重复调用成本，提升AI响应速度。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02 引擎对比：Redis vs. Memcached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70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16000" y="1778000"/>
            <a:ext cx="1016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rcRect l="590" r="590" t="0" b="0"/>
          <a:stretch>
            <a:fillRect/>
          </a:stretch>
        </p:blipFill>
        <p:spPr>
          <a:xfrm rot="0" flipH="false" flipV="false">
            <a:off x="2159000" y="1917700"/>
            <a:ext cx="1524000" cy="482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3810000" y="1905000"/>
            <a:ext cx="222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全功能型引擎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167" flipH="false" flipV="false">
            <a:off x="10160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99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921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2921000"/>
            <a:ext cx="4508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丰富的数据结构体系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支持字符串、哈希、列表、有序集合、位图及HyperLogLog等，满足复杂的业务计算与存储需求。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937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3937000"/>
            <a:ext cx="4508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强大的高级特性支持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原生支持事务、Lua脚本、发布/订阅(Pub/Sub)、地理空间索引及原子性操作，扩展能力极强。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953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97000" y="4953000"/>
            <a:ext cx="4508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多场景的业务适用性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不仅是缓存，更适用于会话存储、实时排行榜、消息队列、计数器及实时数据分析等场景。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159500" y="1524000"/>
            <a:ext cx="5270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rcRect l="5555" r="5555" t="0" b="0"/>
          <a:stretch>
            <a:fillRect/>
          </a:stretch>
        </p:blipFill>
        <p:spPr>
          <a:xfrm rot="0" flipH="false" flipV="false">
            <a:off x="6413500" y="1778000"/>
            <a:ext cx="1016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7620000" y="19050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轻量级缓存引擎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167" flipH="false" flipV="false">
            <a:off x="64135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99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413500" y="29210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794500" y="2921000"/>
            <a:ext cx="4508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极简的键值存储模型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仅支持简单的字符串类型键值对，数据结构单一，专注于提供极致的基础缓存读写性能。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413500" y="39370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794500" y="3937000"/>
            <a:ext cx="4508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轻量灵活的横向扩展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功能精简，依赖客户端实现分片扩展，部署维护简单，内存与CPU资源消耗极低。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6413500" y="49530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794500" y="4953000"/>
            <a:ext cx="4508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极致的纯缓存场景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专为高速缓存设计，最适合数据库查询结果缓存、静态页面片段缓存等简单、高并发的缓存场景。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02 引擎对比：Redis vs. Memcached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从架构设计到生产环境能力的全方位技术解析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10668000" cy="7874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C8C8C8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905000"/>
            <a:ext cx="19050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01 线程模型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048000" y="1905000"/>
            <a:ext cx="39370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单线程核心 + 辅助线程：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核心操作单线程避免竞态，后台线程处理清理/持久化，配合I/O多路复用高效利用多核。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239000" y="1905000"/>
            <a:ext cx="39370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全多线程架构：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天然支持多核并行处理，在海量小数据高并发场景下，吞吐量表现极具优势。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743200"/>
            <a:ext cx="10668000" cy="7874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C8C8C8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2743200"/>
            <a:ext cx="19050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02 弹性扩展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048000" y="2743200"/>
            <a:ext cx="39370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原生集群分片：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内置Cluster模式，自动处理数据分区与请求路由，支持TB级数据的水平线性扩容。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239000" y="2743200"/>
            <a:ext cx="39370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客户端哈希分片：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依赖客户端实现一致性哈希，扩容需人工介入调整，节点变动易引发大规模数据迁移。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581400"/>
            <a:ext cx="10668000" cy="7874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C8C8C8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52500" y="3581400"/>
            <a:ext cx="19050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03 数据持久化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048000" y="3581400"/>
            <a:ext cx="39370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双重机制保障：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支持RDB（快照备份）与AOF（日志重放），可根据需求配置，实现服务重启后数据零丢失。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239000" y="3581400"/>
            <a:ext cx="39370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纯内存易失性：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数据仅驻留内存，服务重启或节点故障即丢失，仅适合作为无状态的临时缓存层。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419600"/>
            <a:ext cx="10668000" cy="7874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C8C8C8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52500" y="4419600"/>
            <a:ext cx="19050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04 高可用架构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048000" y="4419600"/>
            <a:ext cx="39370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自动容灾切换：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支持跨可用区(Multi-AZ)部署，主节点故障时触发毫秒级自动故障转移，服务不中断。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239000" y="4419600"/>
            <a:ext cx="39370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依赖客户端实现：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无原生主从复制，需在客户端层开发心跳检测与故障切换逻辑，架构维护成本高。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257800"/>
            <a:ext cx="10668000" cy="7874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C8C8C8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52500" y="5257800"/>
            <a:ext cx="19050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05 备份与恢复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048000" y="5257800"/>
            <a:ext cx="39370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S3深度集成：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支持手动或自动创建快照并备份至S3，可随时基于快照快速恢复或克隆环境。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239000" y="5257800"/>
            <a:ext cx="39370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无内置备份：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无官方的备份机制，需自行编写脚本进行数据冷备，恢复过程复杂且风险较高。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02 引擎对比：Redis vs. Memcached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955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Redis / Valkey 适用场景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291" flipH="false" flipV="false">
            <a:off x="1016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99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3048000"/>
            <a:ext cx="254000" cy="25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3022600"/>
            <a:ext cx="444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复杂数据结构：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需支持哈希、列表、集合等，满足排行榜、购物车等复杂业务逻辑。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7465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721100"/>
            <a:ext cx="444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数据持久化：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要求数据落盘存储，避免服务重启或故障导致的数据丢失风险。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4419600"/>
            <a:ext cx="444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高可用架构：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需要哨兵或集群模式实现自动故障转移，保障服务连续可用。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143500"/>
            <a:ext cx="254000" cy="254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97000" y="5118100"/>
            <a:ext cx="444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核心存储：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计划将其作为主数据存储（如用户会话、状态管理），而非单纯缓存。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20955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Memcached 适用场景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9291" flipH="false" flipV="false">
            <a:off x="6477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99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477000" y="3048000"/>
            <a:ext cx="254000" cy="254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858000" y="3022600"/>
            <a:ext cx="444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纯缓存层：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仅需简单的键值对缓存，专注于减轻后端数据库的高频读写压力。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477000" y="3746500"/>
            <a:ext cx="254000" cy="254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858000" y="3721100"/>
            <a:ext cx="444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非关键数据：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数据为临时性质，丢失后不影响业务一致性（如页面片段缓存）。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477000" y="4445000"/>
            <a:ext cx="254000" cy="2540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6858000" y="4419600"/>
            <a:ext cx="444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多核性能：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应对海量小数据的并发读写，充分利用多核CPU的并行处理优势。</a:t>
            </a:r>
            <a:endParaRPr lang="en-US" sz="1100"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6477000" y="5143500"/>
            <a:ext cx="254000" cy="2540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858000" y="5118100"/>
            <a:ext cx="444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极简运维：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追求轻量级部署、极低的内存开销，支持快速水平扩展节点。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核心架构概念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3556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714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33500" y="16764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节点 (Node)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159000"/>
            <a:ext cx="3175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ElastiCache的基本计算单元，是运行缓存引擎软件的EC2实例，承载着实际的数据存储与处理任务。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18000" y="1524000"/>
            <a:ext cx="3556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08500" y="1714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889500" y="16764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集群 (Cluster)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08500" y="2159000"/>
            <a:ext cx="3175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由一个或多个节点构成的逻辑管理单元，对外呈现为一个统一的服务入口，是资源管理与扩展的基础载体。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874000" y="1524000"/>
            <a:ext cx="3556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064500" y="1714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445500" y="16764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分片 (Shard)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64500" y="2159000"/>
            <a:ext cx="3175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集群模式下的数据分区单位，每个分片包含主节点与副本节点。通过增加分片数量，实现存储容量与吞吐量的水平扩展。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429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Redis OSS Cluster 模式对比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000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232F3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52500" y="4127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❌ Cluster 模式禁用 (Disabled)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4508500"/>
            <a:ext cx="482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采用单分片架构，仅包含一个主节点和多个副本节点。适合数据量较小、追求部署简单和高可用性，但对扩展性要求不高的场景。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207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232F3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52500" y="5334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✅ Cluster 模式启用 (Enabled)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52500" y="5715000"/>
            <a:ext cx="482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由多个独立分片组成，每个分片都是一个复制组。支持海量数据存储，可线性扩展读写性能，是应对大规模、高并发业务的首选方案。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rcRect l="8945" r="8945" t="0" b="0"/>
          <a:stretch>
            <a:fillRect/>
          </a:stretch>
        </p:blipFill>
        <p:spPr>
          <a:xfrm rot="0" flipH="false" flipV="false">
            <a:off x="6223000" y="4000500"/>
            <a:ext cx="5207000" cy="2222500"/>
          </a:xfrm>
          <a:prstGeom prst="rect">
            <a:avLst/>
          </a:prstGeom>
          <a:noFill/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核心架构概念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38" b="38"/>
          <a:stretch>
            <a:fillRect/>
          </a:stretch>
        </p:blipFill>
        <p:spPr>
          <a:xfrm rot="0" flipH="false" flipV="false">
            <a:off x="762000" y="1778000"/>
            <a:ext cx="3556000" cy="2667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762500"/>
            <a:ext cx="355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ElastiCache 的架构设计围绕高可用性与可扩展性展开。通过合理配置复制组、参数组与子网组，不仅能实现读写分离与故障自动转移，还能确保缓存集群在私有网络环境中的安全部署与弹性伸缩。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699000" y="1778000"/>
            <a:ext cx="6731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953000" y="20066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5524500" y="2006600"/>
            <a:ext cx="571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复制组 (Replication Group)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524500" y="2438400"/>
            <a:ext cx="571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由主节点和多个副本节点组成的高可用集合。主节点负责处理所有写入操作，副本节点分担读取流量，并在主节点发生故障时自动提升为新的主节点，确保业务连续性。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99000" y="3365500"/>
            <a:ext cx="6731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953000" y="35941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524500" y="3594100"/>
            <a:ext cx="571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参数组 (Parameter Group)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524500" y="4025900"/>
            <a:ext cx="571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用于定制缓存引擎行为的配置模板，类似于数据库的配置文件。您可以通过它设置最大连接数、内存淘汰策略（如LRU）、超时阈值等关键参数，以匹配应用的特定性能需求。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4953000"/>
            <a:ext cx="6731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953000" y="51816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524500" y="5181600"/>
            <a:ext cx="571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子网组 (Subnet Group)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524500" y="5613400"/>
            <a:ext cx="571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定义了集群在VPC中的部署位置。为了实现跨可用区的高可用性，建议将子网分布在至少两个不同的可用区（AZ），以避免因单个数据中心故障导致的服务中断。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04 构建高可用与可扩展架构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143" b="143"/>
          <a:stretch>
            <a:fillRect/>
          </a:stretch>
        </p:blipFill>
        <p:spPr>
          <a:xfrm rot="0" flipH="false" flipV="false">
            <a:off x="762000" y="1651000"/>
            <a:ext cx="5207000" cy="2667000"/>
          </a:xfrm>
          <a:prstGeom prst="rect">
            <a:avLst/>
          </a:prstGeom>
          <a:noFill/>
          <a:ln w="25400" cmpd="sng" cap="flat">
            <a:solidFill>
              <a:srgbClr val="FF9900">
                <a:alpha val="2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232F3E">
                <a:alpha val="1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6223000" y="1651000"/>
            <a:ext cx="533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核心机制：跨区部署与自动容灾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223000" y="2286000"/>
            <a:ext cx="53340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多可用区架构：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将主节点与副本节点分散部署在物理隔离的不同可用区（AZ），从基础设施层面消除单点故障隐患，确保服务的高可用性。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智能故障转移：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当主节点发生故障时，ElastiCache 会在 60 秒内自动检测并将最优副本提升为新主节点，同时更新 DNS 记录，应用程序无需修改代码即可无缝重连。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826000"/>
            <a:ext cx="3378200" cy="1460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5016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33500" y="5016500"/>
            <a:ext cx="2730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99.99% 可用性 SLA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5461000"/>
            <a:ext cx="29972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依托 AWS 全球基础设施的高可靠性，为关键业务提供企业级的服务等级协议保障。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94200" y="4826000"/>
            <a:ext cx="3378200" cy="1460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584700" y="5016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965700" y="5016500"/>
            <a:ext cx="2730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应用无感知切换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584700" y="5461000"/>
            <a:ext cx="29972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故障转移过程完全自动化，应用程序无需停机或修改代码，实现真正的无缝恢复。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26400" y="4826000"/>
            <a:ext cx="3378200" cy="1460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216900" y="50165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597900" y="5016500"/>
            <a:ext cx="2730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跨区数据零丢失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16900" y="5461000"/>
            <a:ext cx="29972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数据在不同物理位置的可用区之间实时同步复制，确保极端情况下的数据持久性与完整性。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04 构建高可用与可扩展架构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254" r="254" t="0" b="0"/>
          <a:stretch>
            <a:fillRect/>
          </a:stretch>
        </p:blipFill>
        <p:spPr>
          <a:xfrm rot="0" flipH="false" flipV="false">
            <a:off x="762000" y="1651000"/>
            <a:ext cx="4572000" cy="2794000"/>
          </a:xfrm>
          <a:prstGeom prst="roundRect">
            <a:avLst>
              <a:gd name="adj" fmla="val 5454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76200" blurRad="1524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762500"/>
            <a:ext cx="457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依托云原生基础设施的弹性优势，ElastiCache 能够根据业务负载的潮汐变化，实现计算资源的毫秒级按需伸缩，确保架构始终处于资源最优配置状态，从容应对流量洪峰。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1651000"/>
            <a:ext cx="5715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15000" y="1651000"/>
            <a:ext cx="50800" cy="19685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943600" y="18415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01 垂直扩展 (Scaling Up/Down)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943600" y="2311400"/>
            <a:ext cx="5334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通过直接升级或降级集群节点的实例规格来调整性能。操作简单、即时生效，适合快速应对单节点的性能瓶颈，或在业务低谷期灵活降配以优化成本，是处理短期性能波动的高效手段。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715000" y="4000500"/>
            <a:ext cx="5715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715000" y="4000500"/>
            <a:ext cx="50800" cy="23495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943600" y="41910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02 水平扩展 (Scaling In/Out)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943600" y="4635500"/>
            <a:ext cx="5334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• 读取扩展：</a:t>
            </a:r>
            <a:r>
              <a:rPr lang="en-US" b="false" i="false" strike="noStrike" u="none" sz="14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为复制组添加更多副本节点，将读流量分散至多个节点，大幅提升系统的并发读处理能力，有效缓解主节点压力。</a:t>
            </a:r>
            <a:r>
              <a:rPr lang="en-US" b="fals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• 写入扩展：</a:t>
            </a:r>
            <a:r>
              <a:rPr lang="en-US" b="false" i="false" strike="noStrike" u="none" sz="14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为集群模式添加更多分片，每个分片负责部分数据，从而线性增加写容量与存储。支持在线重分片，无需停机即可扩容。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04 构建高可用与可扩展架构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705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cmpd="sng" cap="flat">
            <a:solidFill>
              <a:srgbClr val="E6CFC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714500"/>
            <a:ext cx="488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01 ElastiCache Serverless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89" r="89" t="0" b="0"/>
          <a:stretch>
            <a:fillRect/>
          </a:stretch>
        </p:blipFill>
        <p:spPr>
          <a:xfrm rot="0" flipH="false" flipV="false">
            <a:off x="952500" y="2286000"/>
            <a:ext cx="3302000" cy="1663700"/>
          </a:xfrm>
          <a:prstGeom prst="rect">
            <a:avLst/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4191000"/>
            <a:ext cx="254000" cy="25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41656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智能自动扩展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基于负载动态伸缩资源，从容应对流量洪峰，无需人工介入。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3365500" y="41910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3683000" y="41656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全托管零运维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免去容量规划、补丁更新与节点维护，聚焦业务价值创新。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52500" y="52070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270000" y="51816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按量计费模式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按实际消耗的存储与计算资源付费，闲置资源零成本。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3365500" y="5207000"/>
            <a:ext cx="254000" cy="254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3683000" y="51816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企业级高可用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多可用区部署保障99.99%可用性，数据持久化更安心。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524000"/>
            <a:ext cx="52705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cmpd="sng" cap="flat">
            <a:solidFill>
              <a:srgbClr val="E6CFC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13500" y="1714500"/>
            <a:ext cx="488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02 Global Datastore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rcRect l="132" r="132" t="0" b="0"/>
          <a:stretch>
            <a:fillRect/>
          </a:stretch>
        </p:blipFill>
        <p:spPr>
          <a:xfrm rot="0" flipH="false" flipV="false">
            <a:off x="6413500" y="2286000"/>
            <a:ext cx="1905000" cy="2413000"/>
          </a:xfrm>
          <a:prstGeom prst="rect">
            <a:avLst/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509000" y="2349500"/>
            <a:ext cx="254000" cy="254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826500" y="2311400"/>
            <a:ext cx="2730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跨区域灾难恢复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主区域故障时，可一键将副本区域提升为主，确保业务连续不中断，数据零丢失。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8509000" y="3683000"/>
            <a:ext cx="254000" cy="254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826500" y="3644900"/>
            <a:ext cx="2730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全球毫秒级访问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数据自动同步至全球各地域，用户就近读取，彻底消除跨国访问延迟，体验更丝滑。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13500" y="5397500"/>
            <a:ext cx="4889500" cy="698500"/>
          </a:xfrm>
          <a:prstGeom prst="roundRect">
            <a:avLst>
              <a:gd name="adj" fmla="val 0"/>
            </a:avLst>
          </a:prstGeom>
          <a:solidFill>
            <a:srgbClr val="FF9900">
              <a:alpha val="10000"/>
            </a:srgbClr>
          </a:solidFill>
          <a:ln cmpd="sng" cap="flat">
            <a:solidFill>
              <a:srgbClr val="E68A00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540500" y="5499100"/>
            <a:ext cx="4699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关键优势：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在保持强一致性的前提下，实现数据的全球同步，为全球化业务提供坚实的数据底座。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05 最佳实践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4204" r="4204" t="0" b="0"/>
          <a:stretch>
            <a:fillRect/>
          </a:stretch>
        </p:blipFill>
        <p:spPr>
          <a:xfrm rot="0" flipH="false" flipV="false">
            <a:off x="762000" y="1778000"/>
            <a:ext cx="3556000" cy="1651000"/>
          </a:xfrm>
          <a:prstGeom prst="roundRect">
            <a:avLst>
              <a:gd name="adj" fmla="val 9230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76200" blurRad="1905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3873500"/>
            <a:ext cx="3556000" cy="2349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mpd="sng" cap="flat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4064000"/>
            <a:ext cx="3175000" cy="209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硬件是性能的基石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选择 AWS Graviton 等基于 ARM 架构的高性能实例，能以更低成本提供更高的性价比与能效比。结合对内存、CPU 和网络的精细化评估，为 Redis 工作负载匹配最适合的节点规格，从底层硬件层面保障吞吐量与低延迟。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699000" y="17780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889500" y="1968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270500" y="1930400"/>
            <a:ext cx="285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数据分层降本增效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889500" y="2413000"/>
            <a:ext cx="3111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针对符合“80/20法则”的访问模式，利用支持分层的节点类型，将低频“温数据”自动移至低成本本地 SSD，仅将高频热数据保留在内存中，实现性能与成本的最佳平衡。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37465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889500" y="3937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270500" y="3898900"/>
            <a:ext cx="285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客户端深度调优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889500" y="4381500"/>
            <a:ext cx="3111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使用连接池避免频繁建联开销；采用一致性哈希实现客户端分片以均衡负载；在 Redis 6.2+ 中启用增强型 I/O 线程，可显著提升高并发场景下的吞吐量与响应速度。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17780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572500" y="19685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953500" y="1930400"/>
            <a:ext cx="285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高效缓存键设计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572500" y="2413000"/>
            <a:ext cx="3111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使用简洁且具有语义的键名，减少键本身占用的内存空间，同时降低网络传输的带宽损耗。规范的命名也能提升代码的可读性与维护性。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382000" y="37465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572500" y="39370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953500" y="3898900"/>
            <a:ext cx="285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智能过期与淘汰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572500" y="4381500"/>
            <a:ext cx="3111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为缓存键设置合理的 TTL（过期时间），防止内存无限膨胀；结合 LRU（最近最少使用）或 LFU（最不经常使用）淘汰策略，确保热点数据常驻内存，同时维持数据的新鲜度。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699000" y="5651500"/>
            <a:ext cx="7175500" cy="762000"/>
          </a:xfrm>
          <a:prstGeom prst="roundRect">
            <a:avLst>
              <a:gd name="adj" fmla="val 0"/>
            </a:avLst>
          </a:prstGeom>
          <a:solidFill>
            <a:srgbClr val="232F3E">
              <a:alpha val="5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889500" y="5816600"/>
            <a:ext cx="692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💡 优化核心：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全链路优化需兼顾“性能提升”与“成本控制”，从底层硬件选型到应用层的配置与设计，每一个环节的精细化调优都能带来显著的系统效能提升。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05 最佳实践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38" b="38"/>
          <a:stretch>
            <a:fillRect/>
          </a:stretch>
        </p:blipFill>
        <p:spPr>
          <a:xfrm rot="0" flipH="false" flipV="false">
            <a:off x="762000" y="1778000"/>
            <a:ext cx="3048000" cy="228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318000"/>
            <a:ext cx="304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安全性是云端架构的基石。通过构建“网络隔离+访问控制+全链路加密”的多层防御体系，从物理网络到数据存储，全方位保障ElastiCache集群的机密性与完整性。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318000" y="1778000"/>
            <a:ext cx="3683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08500" y="20066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953000" y="2006600"/>
            <a:ext cx="292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01 部署在 VPC 私有网络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08500" y="2540000"/>
            <a:ext cx="330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始终将集群部署在Amazon VPC内，利用子网划分和网络ACL实现逻辑隔离，杜绝公网直接访问，从网络层阻断非法入侵。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28000" y="1778000"/>
            <a:ext cx="3683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18500" y="20066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8763000" y="2006600"/>
            <a:ext cx="292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02 最小权限安全组规则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318500" y="2540000"/>
            <a:ext cx="330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严格配置入站规则，仅允许受信应用服务器的特定端口访问。遵循“最小权限原则”，定期审计并更新安全组，减少攻击面。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318000" y="4127500"/>
            <a:ext cx="3683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508500" y="43561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953000" y="4356100"/>
            <a:ext cx="292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03 传输与静态双重加密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508500" y="4889500"/>
            <a:ext cx="330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启用TLS 1.2+协议保障数据传输安全；利用AWS KMS托管密钥对磁盘数据进行静态加密，防止物理层面的数据泄露风险。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0" y="4127500"/>
            <a:ext cx="3683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318500" y="4356100"/>
            <a:ext cx="355600" cy="355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763000" y="4356100"/>
            <a:ext cx="292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04 精细化身份权限管控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318500" y="4889500"/>
            <a:ext cx="330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Redis/Valkey启用ACL功能，为不同应用配置独立账号与精细权限；配合IAM角色管理，确保只有授权实体可执行管理操作。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05 最佳实践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778000"/>
            <a:ext cx="3556000" cy="2222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191000"/>
            <a:ext cx="3556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Amazon CloudWatch 作为 AWS 核心的可观测性服务，为 ElastiCache 提供全方位的监控能力。通过可视化的仪表盘和精细的指标追踪，帮助运维团队快速洞察集群健康状况，实现从被动响应到主动管理的转变。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826000" y="1778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016500" y="1968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5397500" y="1930400"/>
            <a:ext cx="285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01 监控核心指标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16500" y="2413000"/>
            <a:ext cx="3111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重点追踪 CPU 利用率、缓存命中率、连接数及内存驱逐量。这些指标直接反映集群负载与效率，是排查性能瓶颈、优化配置的关键依据。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445500" y="17780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636000" y="1968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9017000" y="1930400"/>
            <a:ext cx="285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02 配置智能告警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636000" y="2413000"/>
            <a:ext cx="3111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为关键阈值设置自动告警规则，支持邮件、短信或 SNS 通知。在指标异常（如高负载、低命中率）时即时响应，避免服务中断风险。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826000" y="41275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016500" y="4318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397500" y="4279900"/>
            <a:ext cx="285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03 定期自动备份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16500" y="4762500"/>
            <a:ext cx="3111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配置自动快照策略，将数据持久化存储至 S3 存储桶。这不仅是防止意外故障的数据恢复保障，也是应对合规审计要求的重要手段。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445500" y="41275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636000" y="43180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9017000" y="4279900"/>
            <a:ext cx="285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04 引擎版本升级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636000" y="4762500"/>
            <a:ext cx="3111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及时升级至最新的 Redis/Valkey 引擎版本，获取官方的性能优化、新特性支持以及关键的安全补丁，确保集群的长期稳定性与竞争力。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06 定价模型与成本优化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E5E7EB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574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60500" y="2032000"/>
            <a:ext cx="431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节点型 (Node-based) 定价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291" flipH="false" flipV="false">
            <a:off x="1016009" y="26606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921000"/>
            <a:ext cx="469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01 按需实例 (On-Demand)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按小时付费，无长期承诺，即开即用，灵活性极高。适合短期测试、开发环境或不可预测的临时负载。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873500"/>
            <a:ext cx="469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02 预留节点 (Reserved Nodes)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承诺1年或3年使用期限，可享大幅折扣（最高达75%）。专为负载稳定、长期运行的生产级业务设计。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889500"/>
            <a:ext cx="469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03 数据库节省计划 (Savings Plans)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承诺1年/3年的计算资源消耗，覆盖多种节点类型与区域，提供比预留节点更灵活的成本优化方案。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E5E7EB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0574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921500" y="2032000"/>
            <a:ext cx="431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无服务器 (Serverless) 定价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291" flipH="false" flipV="false">
            <a:off x="6477009" y="26606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477000" y="2921000"/>
            <a:ext cx="469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01 按实际用量计费，无闲置费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摒弃传统节点费，仅按三大维度计费：数据存储量(GB/月)、计算消耗(ECPU秒)以及实际发生的读写I/O请求次数。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3873500"/>
            <a:ext cx="469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02 极致弹性，自动扩缩容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无需手动预估容量或管理节点，系统毫秒级响应负载变化。无论是流量洪峰还是低谷，资源自动适配，杜绝浪费。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4889500"/>
            <a:ext cx="469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03 零承诺，低门槛启动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无最低消费或长期合约限制，闲置状态下成本几乎为零。特别适合突发型、间歇型或难以预测流量的工作负载。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06 定价模型与成本优化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FF990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8796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71600" y="1854200"/>
            <a:ext cx="279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01 灵活选择部署模式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3368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生产环境选用预留实例锁定长期低价；开发测试或波动负载采用按需实例或Serverless模式，按需付费，避免闲置资源浪费。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1651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FF990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18796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991100" y="1854200"/>
            <a:ext cx="279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02 利用智能数据分层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23368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针对热温数据的访问差异，采用分层存储方案。高频数据存于高性能层，低频数据自动下沉至低成本层，兼顾性能与成本。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1651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FF990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18796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610600" y="1854200"/>
            <a:ext cx="279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03 动态调整节点配置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91500" y="23368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基于CloudWatch监控指标，实时调整节点规格与数量。削峰填谷，避免过度配置，让资源规模始终与业务负载需求相匹配。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0005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FF990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42291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371600" y="42037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04 配置成本分配标签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4686300"/>
            <a:ext cx="4889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为资源添加项目、部门、环境等标签，利用AWS成本管理工具实现成本的精准分摊与归因分析，清晰追踪各业务单元的资源消耗，优化预算管控。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159500" y="40005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FF990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350000" y="42291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769100" y="42037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05 精简备份存储策略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350000" y="4686300"/>
            <a:ext cx="4889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根据业务恢复点目标（RPO）设定合理的备份保留周期，及时清理过期快照，避免因冗余备份占用S3存储空间而产生的额外费用。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07 总结与未来趋势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关键优势总结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2222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193800" y="2184400"/>
            <a:ext cx="47752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卓越性能 · 极速响应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微秒级延迟，轻松支撑千万级高并发读写，保障电商秒杀、实时风控等业务的极致体验。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30226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193800" y="2984500"/>
            <a:ext cx="47752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完全托管 · 解放人力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AWS负责硬件维护、补丁更新与故障修复，让研发团队从繁琐运维中解脱，聚焦业务创新。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62000" y="38227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193800" y="3784600"/>
            <a:ext cx="47752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高可用性 · 永不中断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支持多可用区同步部署与自动故障转移，SLA承诺高达99.99%，确保业务连续性。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62000" y="46228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193800" y="4584700"/>
            <a:ext cx="47752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灵活扩展 · 弹性伸缩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支持垂直扩容与分片集群横向扩展，分钟级完成配置变更，轻松应对业务流量洪峰。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762000" y="54229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193800" y="5384800"/>
            <a:ext cx="47752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丰富功能 · 广泛兼容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原生兼容Redis/Valkey和Memcached协议，支持数据持久化、Lua脚本及事务等高级特性。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rcRect l="0" r="0" t="7303" b="7303"/>
          <a:stretch>
            <a:fillRect/>
          </a:stretch>
        </p:blipFill>
        <p:spPr>
          <a:xfrm rot="0" flipH="false" flipV="false">
            <a:off x="6223000" y="1524000"/>
            <a:ext cx="5207000" cy="2540000"/>
          </a:xfrm>
          <a:prstGeom prst="roundRect">
            <a:avLst>
              <a:gd name="adj" fmla="val 6000"/>
            </a:avLst>
          </a:prstGeom>
          <a:noFill/>
          <a:ln w="12700" cmpd="sng" cap="flat">
            <a:solidFill>
              <a:srgbClr val="FF9900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6" id="16"/>
          <p:cNvSpPr/>
          <p:nvPr/>
        </p:nvSpPr>
        <p:spPr>
          <a:xfrm rot="0" flipH="false" flipV="false">
            <a:off x="6223000" y="4191000"/>
            <a:ext cx="520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未来发展趋势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4699000"/>
            <a:ext cx="2540000" cy="952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350000" y="4826000"/>
            <a:ext cx="254000" cy="254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667500" y="4762500"/>
            <a:ext cx="2095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Valkey生态崛起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开源分支Valkey将成主流，提供更开放、中立的缓存标准选择。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890000" y="4699000"/>
            <a:ext cx="2540000" cy="952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9017000" y="48260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334500" y="4762500"/>
            <a:ext cx="2095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Serverless普及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无服务器模式按需付费，自动扩缩容，大幅降低运维与成本压力。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5651500"/>
            <a:ext cx="2540000" cy="952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6350000" y="5778500"/>
            <a:ext cx="254000" cy="2540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667500" y="5715000"/>
            <a:ext cx="2095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性能持续跃升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基于Graviton处理器优化，结合多线程模型，突破性能天花板。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890000" y="5651500"/>
            <a:ext cx="2540000" cy="952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 flipH="false" flipV="false">
            <a:off x="9017000" y="5778500"/>
            <a:ext cx="254000" cy="254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9334500" y="5715000"/>
            <a:ext cx="2095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232F3E"/>
                </a:solidFill>
                <a:latin typeface="Noto Sans SC"/>
                <a:ea typeface="Noto Sans SC"/>
                <a:cs typeface="Noto Sans SC"/>
                <a:sym typeface="Noto Sans SC"/>
              </a:rPr>
              <a:t>AI/ML 深度融合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作为向量数据库缓存层，赋能大模型推理与AI应用的记忆存储。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794000"/>
            <a:ext cx="1016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4318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9900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5334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感谢您的聆听与关注，欢迎随时交流探讨，共同探索技术的无限可能。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{"Label":"1","ContentProducer":"001191110102MACQD9K64010000","ProduceID":"7672402607004044260","ReservedCode1":"","ContentPropagator":"","PropagateID":"","ReservedCode2":""}</vt:lpwstr>
  </property>
</Properties>
</file>