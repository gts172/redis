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4.svg" ContentType="image/svg+xml"/>
  <Override PartName="/ppt/media/image47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92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大家好，今天我将为大家深度解析 Redis Cluster，这是一个用于构建高可用、可扩展分布式缓存的强大工具。在本次分享中，我们将一起探讨它的核心架构、工作原理以及在实际应用中的最佳实践。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本次分享将分为五个部分。首先，我们会探讨为什么需要 Redis Cluster，回顾其演进历程。接着，深入分析其核心架构和通信机制。然后，我们将重点讲解数据分片的原理。之后，会介绍其高可用机制。最后，对 Redis Cluster 的优缺点和适用场景进行总结。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首先，我们来看看为什么需要 Redis Cluster。当业务发展到一定阶段，单机 Redis 会遇到容量、性能和可用性三大瓶颈。为了解决这些问题，Redis 部署模式从最初的单机，发展到主从复制，再到哨兵模式。哨兵模式虽然实现了高可用，但数据仍然集中在单个主节点上，容量瓶颈依然存在。而 Redis Cluster 的出现，正是为了从根本上解决分布式问题，通过数据分片实现水平扩展，同时内置了高可用机制。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章，了解一下AWS提供的托管缓存服务——ElastiCache。简单来说，ElastiCache就是把我们前面讨论的Redis或Memcached交给AWS来管理。它的核心价值在于，让我们能够享受到内存缓存带来的极致性能，同时又无需关心底层复杂的运维工作。它提供了高可用、弹性伸缩等企业级特性，并能与AWS的其他服务无缝集成，帮助我们更专注于业务本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astiCache的强大之处体现在它的几个关键特性上。首先是高可用性，通过多可用区部署，它能在一分钟内自动完成故障转移。其次是自动化的备份与恢复机制，确保数据安全。再者，它的自动扩展能力，无论是手动在线扩缩容，还是更先进的无服务器模式，都能让我们轻松应对流量变化。最后，在安全性方面，它提供了从网络隔离到数据加密的全方位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对于Redis，ElastiCache提供了两种架构模式。第一种是“集群模式禁用”，适合数据量不大的场景，它本质上是一个带副本的单节点。第二种是“集群模式启用”，这是我们重点关注的，它完全兼容我们之前讲的Redis Cluster哈希槽机制，支持水平扩展，能够应对大规模的应用场景。可以理解为，ElastiCache把原生Redis Cluster的复杂运维工作都接管了，让我们能更轻松地使用它。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那么，选择托管的ElastiCache和自己搭建Redis Cluster有什么区别呢？这张表格清晰地展示了对比。简单来说，ElastiCache极大地降低了运维负担，将高可用、扩展性、安全性等复杂问题自动化。我们只需要按需付费，就能享受到稳定可靠的服务。而自建虽然更灵活，但需要投入大量的人力进行运维和保障，成本和风险都更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astiCache的应用场景非常广泛。除了我们熟知的数据库缓存、会话存储、实时排行榜这些经典场景外，它在新兴的生成式AI领域也扮演着越来越重要的角色。例如，通过语义缓存可以大幅降低大模型的调用成本；作为向量数据库，它可以为RAG架构提供高效的知识库检索能力。这些都让ElastiCache成为现代云原生应用和AI应用不可或缺的一部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 Redis Cluster 的核心架构。它采用了去中心化的设计，这意味着集群中没有中心节点，所有节点地位平等。如这张图所示，一个典型的集群由多个主节点和对应的从节点组成。每个主节点负责一部分数据，从节点则作为备份。客户端可以连接到任意一个节点，然后通过内部机制找到存储数据的正确节点。这种设计保证了集群的高可用性和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那么，这些去中心化的节点是如何协同工作的呢？答案是 Gossip 协议。你可以把它想象成办公室里的“流言蜚语”。每个节点会定期随机地和其他几个节点交换信息，比如自己的状态、其他节点的状态等。通过这种方式，任何节点的状态变化，比如加入、离开或故障，都会迅速传播到整个集群，最终所有节点都能形成一个统一的集群视图。这种机制高效且具有良好的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现在我们来谈谈 Redis Cluster 最核心的特性之一：数据分片。它采用的是哈希槽机制。整个集群被划分为16384个哈希槽。当一个key写入时，Redis会通过CRC16算法计算出它属于哪个槽，然后将这个key存储到负责该槽的主节点上。如图所示，不同的主节点负责不同范围的槽位。选择16384这个数字，是为了在集群规模和网络开销之间取得平衡，既保证了扩展性，又保持了通信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虽然哈希槽机制很高效，但它带来了一个限制：默认不支持跨槽的多键操作。为了解决这个问题，Redis 提供了哈希标签功能。通过在key中使用花括号，我们可以强制让多个相关的key落在同一个槽位上。另外，当客户端连接到错误的节点时，节点会返回重定向指令。MOVED 表示永久迁移，客户端需要更新自己的缓存；ASK 则表示临时迁移，通常发生在槽位迁移期间，客户端只需临时访问目标节点即可。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Redis Cluster 的另一个核心优势是内置的高可用机制。当一个主节点出现故障时，集群会如何处理呢？首先是故障检测。一个节点会先主观地认为另一个节点可能下线（PFAIL），然后通过Gossip协议传播这个信息。当超过半数的主节点都确认这个节点故障后，它会被标记为客观下线（FAIL）。接着，故障主节点的从节点会立即开始选举，通过投票选出一个新的主节点来接替工作，整个过程自动完成，无需人工干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 Redis Cluster。它的优点非常突出：强大的水平扩展能力、内置的高可用机制、去中心化的稳定架构以及高性能。但同时，它也有一些局限性，比如对多键操作的限制和较高的运维复杂度。因此，Redis Cluster 最适合那些需要处理大规模数据、高并发读写、对可用性要求极高并且有动态扩展需求的场景，例如大型电商平台的购物车、秒杀系统等。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深入了解一下Gossip协议的工作细节。它的流程非常高效：每个节点每秒都会随机选择几个节点发送心跳包，也就是PING消息。如果发现某个节点很久没回应，就会立刻主动探测。这些心跳包不仅包含自己的状态，还携带了一些其他节点的信息，就像一个信息中转站。通过这种方式，整个集群的状态信息就像涟漪一样快速扩散开来。其中，MEET、PING、PONG、FAIL是四种最核心的消息类型，分别负责节点加入、心跳检测、响应确认和故障通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哈希槽的一大优势是支持在线扩缩容。当我们需要扩容时，只需将新节点加入集群，然后将部分哈希槽从现有节点迁移到新节点即可。这个过程是自动的，数据会被逐一迁移过去。缩容则是一个逆过程，先把要移除节点上的所有槽位都迁移到其他节点，然后再将其踢出集群。整个过程对应用完全透明，无需停机，保证了业务的连续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哈希标签虽然好用，但也要注意方法。最佳实践是用它来管理那些逻辑上必须在一起的关联数据，比如同一个用户的所有信息。但一定要注意标签的粒度，如果标签太宽泛，比如所有用户都用同一个标签，那就会导致所有数据都集中到一个节点上，这就是所谓的数据倾斜，会让我们的分布式架构失去意义。因此，设计合理的标签规则，避免热点数据，是使用哈希标签时必须考虑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深入看看故障转移的选举过程。这个过程借鉴了Raft算法的思想，非常严谨。首先，所有从节点都会参选，但为了避免大家同时抢着当主，它们会先等一个随机的时间。数据越新的节点，等待时间越短，机会越大。然后，它们会向所有主节点拉票。每个主节点只能投一票，谁先收到请求就投给谁。最终，获得超过半数选票的那个从节点胜出，成为新的主节点。这个机制保证了选举的公平性和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最后，我们来看几个在实际运维中非常重要的配置参数。cluster-node-timeout 决定了节点故障检测的敏感度。cluster-migration-barrier 可以自动为没有从节点的主节点调配从节点，增强高可用。cluster-require-full-coverage 则控制了集群在槽位未完全分配时是否停止服务，这在扩缩容时特别有用。理解并合理调整这些参数，是保证Redis Cluster稳定运行的关键。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12.xml"/><Relationship Id="rId2" Type="http://schemas.openxmlformats.org/officeDocument/2006/relationships/image" Target="../media/image4.jpeg"/><Relationship Id="rId19" Type="http://schemas.openxmlformats.org/officeDocument/2006/relationships/tags" Target="../tags/tag11.xml"/><Relationship Id="rId18" Type="http://schemas.openxmlformats.org/officeDocument/2006/relationships/image" Target="../media/image10.svg"/><Relationship Id="rId17" Type="http://schemas.openxmlformats.org/officeDocument/2006/relationships/image" Target="../media/image9.png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8.svg"/><Relationship Id="rId11" Type="http://schemas.openxmlformats.org/officeDocument/2006/relationships/image" Target="../media/image7.png"/><Relationship Id="rId10" Type="http://schemas.openxmlformats.org/officeDocument/2006/relationships/tags" Target="../tags/tag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7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34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41.svg"/><Relationship Id="rId14" Type="http://schemas.openxmlformats.org/officeDocument/2006/relationships/image" Target="../media/image40.png"/><Relationship Id="rId13" Type="http://schemas.openxmlformats.org/officeDocument/2006/relationships/image" Target="../media/image39.svg"/><Relationship Id="rId12" Type="http://schemas.openxmlformats.org/officeDocument/2006/relationships/image" Target="../media/image38.png"/><Relationship Id="rId11" Type="http://schemas.openxmlformats.org/officeDocument/2006/relationships/image" Target="../media/image37.svg"/><Relationship Id="rId10" Type="http://schemas.openxmlformats.org/officeDocument/2006/relationships/image" Target="../media/image36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42.jpe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image" Target="../media/image22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35.svg"/><Relationship Id="rId2" Type="http://schemas.openxmlformats.org/officeDocument/2006/relationships/image" Target="../media/image51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51.png"/><Relationship Id="rId7" Type="http://schemas.openxmlformats.org/officeDocument/2006/relationships/image" Target="../media/image57.svg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64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svg"/><Relationship Id="rId8" Type="http://schemas.openxmlformats.org/officeDocument/2006/relationships/image" Target="../media/image71.png"/><Relationship Id="rId7" Type="http://schemas.openxmlformats.org/officeDocument/2006/relationships/image" Target="../media/image70.svg"/><Relationship Id="rId6" Type="http://schemas.openxmlformats.org/officeDocument/2006/relationships/image" Target="../media/image69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7" Type="http://schemas.openxmlformats.org/officeDocument/2006/relationships/notesSlide" Target="../notesSlides/notesSlide16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76.svg"/><Relationship Id="rId14" Type="http://schemas.openxmlformats.org/officeDocument/2006/relationships/image" Target="../media/image75.png"/><Relationship Id="rId13" Type="http://schemas.openxmlformats.org/officeDocument/2006/relationships/image" Target="../media/image74.svg"/><Relationship Id="rId12" Type="http://schemas.openxmlformats.org/officeDocument/2006/relationships/image" Target="../media/image73.png"/><Relationship Id="rId11" Type="http://schemas.openxmlformats.org/officeDocument/2006/relationships/image" Target="../media/image55.svg"/><Relationship Id="rId10" Type="http://schemas.openxmlformats.org/officeDocument/2006/relationships/image" Target="../media/image54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svg"/><Relationship Id="rId8" Type="http://schemas.openxmlformats.org/officeDocument/2006/relationships/image" Target="../media/image60.png"/><Relationship Id="rId7" Type="http://schemas.openxmlformats.org/officeDocument/2006/relationships/image" Target="../media/image76.svg"/><Relationship Id="rId6" Type="http://schemas.openxmlformats.org/officeDocument/2006/relationships/image" Target="../media/image75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Relationship Id="rId3" Type="http://schemas.openxmlformats.org/officeDocument/2006/relationships/image" Target="../media/image22.svg"/><Relationship Id="rId2" Type="http://schemas.openxmlformats.org/officeDocument/2006/relationships/image" Target="../media/image48.png"/><Relationship Id="rId13" Type="http://schemas.openxmlformats.org/officeDocument/2006/relationships/notesSlide" Target="../notesSlides/notesSlide1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1.png"/><Relationship Id="rId7" Type="http://schemas.openxmlformats.org/officeDocument/2006/relationships/image" Target="../media/image80.svg"/><Relationship Id="rId6" Type="http://schemas.openxmlformats.org/officeDocument/2006/relationships/image" Target="../media/image79.png"/><Relationship Id="rId5" Type="http://schemas.openxmlformats.org/officeDocument/2006/relationships/image" Target="../media/image35.svg"/><Relationship Id="rId4" Type="http://schemas.openxmlformats.org/officeDocument/2006/relationships/image" Target="../media/image51.png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0" Type="http://schemas.openxmlformats.org/officeDocument/2006/relationships/notesSlide" Target="../notesSlides/notesSlide20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0" y="4000500"/>
            <a:ext cx="20320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cap="flat" cmpd="sng">
            <a:solidFill>
              <a:srgbClr val="C0001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254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构建高可用分布式缓存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88000" y="5334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222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73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引言：演进与初衷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17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从单机性能瓶颈到分布式架构的演进之路，深度解析 Redis Cluster 诞生的核心设计理念与价值。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2032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2222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73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核心架构与通信机制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17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探索去中心化的对等节点拓扑结构，详解 Gossip 协议如何实现高效的节点间信息传播与同步。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2032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91500" y="2222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91500" y="273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数据分片与寻址原理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317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解析 16384 个哈希槽的分配策略，以及如何利用哈希标签解决多键操作与请求重定向问题。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2545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444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495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高可用与故障自愈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539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深入节点故障检测机制，了解从主观下线到客观下线的判定流程，以及自动故障转移的实现。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42545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572000" y="444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2000" y="495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总结与场景适配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72000" y="539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客观评估 Redis Cluster 的优势与局限性，明确其在海量并发、高可用场景下的最佳实践与选型建议。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42545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191500" y="444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KEY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91500" y="495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核心价值回顾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91500" y="539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突破单机内存与性能极限，提供线性可扩展性，是构建大规模 Redis 服务的工业级标准方案。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引言：为什么需要 Redis Cluster？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588" b="588"/>
          <a:stretch>
            <a:fillRect/>
          </a:stretch>
        </p:blipFill>
        <p:spPr>
          <a:xfrm>
            <a:off x="762000" y="1651000"/>
            <a:ext cx="4318000" cy="2667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4318000" cy="1714500"/>
          </a:xfrm>
          <a:prstGeom prst="roundRect">
            <a:avLst>
              <a:gd name="adj" fmla="val 0"/>
            </a:avLst>
          </a:prstGeom>
          <a:solidFill>
            <a:srgbClr val="D9001B">
              <a:alpha val="7000"/>
            </a:srgbClr>
          </a:solidFill>
          <a:ln w="12700" cap="flat" cmpd="sng">
            <a:solidFill>
              <a:srgbClr val="D9001B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4762500"/>
            <a:ext cx="4064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核心洞察：从高可用到分布式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Sentinel 模式解决了单点故障的高可用问题，但未突破单机容量的物理限制。</a:t>
            </a:r>
            <a:r>
              <a:rPr lang="en-US" sz="13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则从架构层面实现了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数据分片与水平扩展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，是支撑海量数据与高并发业务的终极方案。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461000" y="1651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单机 Redis 的三大不可逾越瓶颈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5461000" y="2222500"/>
            <a:ext cx="19685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3400" y="23876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5943600" y="23749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容量受限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5613400" y="2819400"/>
            <a:ext cx="1714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受限于单节点物理内存上限，无法存储超大规模数据集。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518400" y="2222500"/>
            <a:ext cx="19685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70800" y="23876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8001000" y="23749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性能天花板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7670800" y="2819400"/>
            <a:ext cx="1714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单节点 CPU 算力与网卡 I/O 达到极限，难以抗住超高并发。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9588500" y="2222500"/>
            <a:ext cx="19685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40900" y="23876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10071100" y="23749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单点风险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0"/>
            </p:custDataLst>
          </p:nvPr>
        </p:nvSpPr>
        <p:spPr>
          <a:xfrm>
            <a:off x="9740900" y="2819400"/>
            <a:ext cx="1714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无冗余机制，一旦节点宕机，依赖它的业务将直接中断。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461000" y="3683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部署模式演进与痛点迭代</a:t>
            </a:r>
            <a:endParaRPr lang="en-US" sz="1100"/>
          </a:p>
        </p:txBody>
      </p:sp>
      <p:graphicFrame>
        <p:nvGraphicFramePr>
          <p:cNvPr id="21" name="Table 21"/>
          <p:cNvGraphicFramePr>
            <a:graphicFrameLocks noGrp="1"/>
          </p:cNvGraphicFramePr>
          <p:nvPr/>
        </p:nvGraphicFramePr>
        <p:xfrm>
          <a:off x="5461000" y="4191000"/>
          <a:ext cx="6096000" cy="165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2349500"/>
                <a:gridCol w="2349500"/>
              </a:tblGrid>
              <a:tr h="431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91B1B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模式阶段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001B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91B1B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核心能力突破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001B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91B1B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待解关键问题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001B">
                        <a:alpha val="12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单机模式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满足基础缓存读写需求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容量小、性能低、无容灾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主从复制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读写分离，数据热备冗余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写操作集中，故障需手动切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哨兵模式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故障自动转移，实现高可用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数据未分片，容量仍受限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AWS ElastiCache：定义与核心价值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034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ElastiCache 是一项由 AWS 提供的</a:t>
            </a: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完全托管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的内存缓存服务，兼容 Redis OSS、Memcached 和 Valkey。它通过在内存中存储频繁访问的数据，为应用提供</a:t>
            </a: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微秒级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的响应时间，从而显著降低数据库负载并提升应用的整体吞吐量。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33782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2385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2131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极致性能与低延迟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6576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利用内存存储实现微秒级响应，轻松应对高并发读写场景，如电商秒杀、实时游戏排行榜等。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3048000"/>
            <a:ext cx="33782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32385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78400" y="32131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全托管运维，解放人力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97400" y="36576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负责硬件配置、软件补丁、监控维护及故障恢复，让团队专注于业务逻辑开发而非底层管理。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3048000"/>
            <a:ext cx="33782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300" y="32385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23300" y="3213100"/>
            <a:ext cx="2730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企业级高可用保障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42300" y="36576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支持多可用区（AZ）部署与自动故障转移，提供 99.99% 的服务可用性 SLA，确保业务连续性。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826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0165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33500" y="49911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弹性伸缩与成本优化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4356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支持按需扩容/缩容，提供 Serverless 无服务器模式，资源随业务负载自动调整，按需付费，有效避免资源闲置浪费。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4826000"/>
            <a:ext cx="5270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50165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31000" y="49911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开源兼容与生态集成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54356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完全兼容 Redis OSS 和 Memcached 协议，实现零代码迁移；与 EC2、RDS、Lambda 等 AWS 服务无缝协作，构建现代化应用架构。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AWS ElastiCache：关键特性详解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215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高可用性架构 (High Availability)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支持多可用区（Multi-AZ）部署，主从节点实时同步。主节点故障时，系统在60秒内自动完成故障转移，无缝切换至副本节点，保障业务访问零中断，为应用提供电信级可靠性。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159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59600" y="215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智能备份与极速恢复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可配置策略自动将快照存储至S3，也支持手动按需备份。利用快照可快速实现数据恢复、集群克隆或环境迁移，确保数据持久性，并能轻松应对误操作或灾难场景，降低恢复成本。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98600" y="444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极致弹性与无服务器架构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支持在线垂直扩容与水平分片，过程完全无停机。提供Serverless模式，无需手动容量规划，资源随业务负载自动弹性伸缩，从容应对流量洪峰，同时实现资源利用最大化与成本最优。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45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59600" y="444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全链路安全合规保障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集群部署于私有VPC内，通过安全组实现精细化访问控制。支持传输中TLS加密与静态数据KMS加密，集成IAM身份认证与Redis原生密码鉴权，全面满足金融、政务等对数据安全与合规的严苛要求。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AWS ElastiCache：Redis 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集群模式禁用 (单分片)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单分片复制组，由1个主节点和若干副本节点构成。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特点：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部署管理简单，天然支持高可用，但存储容量受限于单节点，无法水平扩展。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适用于数据集较小、对读取性能有一定扩展需求的业务。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746500"/>
            <a:ext cx="5334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9370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集群模式启用 (水平扩展)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3815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支持1-500个分片，完全兼容原生Redis Cluster的16384哈希槽机制。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特点：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支持在线水平扩展且无停机，每个分片均可配置多可用区(Multi-AZ)。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应对海量数据集、高并发读写吞吐量的核心业务场景。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l="58" r="58"/>
          <a:stretch>
            <a:fillRect/>
          </a:stretch>
        </p:blipFill>
        <p:spPr>
          <a:xfrm>
            <a:off x="6477000" y="1651000"/>
            <a:ext cx="4826000" cy="2717800"/>
          </a:xfrm>
          <a:prstGeom prst="roundRect">
            <a:avLst>
              <a:gd name="adj" fmla="val 560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477000" y="4699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12700" cap="flat" cmpd="sng">
            <a:solidFill>
              <a:srgbClr val="D9001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67500" y="48514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核心价值：全托管的企业级 Redis 服务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在原生 Redis Cluster 的强大性能之上，AWS 接管了分片管理、故障检测与自动恢复等复杂运维工作，提供企业级的备份恢复、监控告警与安全合规特性，让开发更专注于业务逻辑。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AWS ElastiCache：与自建 Redis Cluster 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运维负担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3">
            <a:off x="952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540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托管服务，零Ops重负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全权负责底层硬件维护、补丁更新与监控告警，您只需聚焦业务逻辑，无需投入人力处理基础设施琐事。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19685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高可用性保障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45720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72000" y="2540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Multi-AZ 自动容灾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 99.99% 服务可用性 SLA，节点故障秒级自动切换，无需人工干预，确保业务连续性。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91500" y="19685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弹性扩展能力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8191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191500" y="2540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在线伸缩，业务零感知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支持动态添加/删除分片与节点，无需停机维护，轻松应对流量洪峰，从容支撑业务增长。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43180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灵活成本模型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952513" y="475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52500" y="4889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按需付费，优化 TCO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按实际使用的节点资源、存储空间和网络流量付费，无前期投入成本，有效避免资源闲置浪费。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41275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572000" y="43180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极致性能优化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323">
            <a:off x="4572013" y="475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572000" y="4889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Nitro 系统深度调优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底层硬件与软件栈协同优化，自动推送版本更新与性能增强补丁，始终保持最佳运行状态。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41275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191500" y="43180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06 企业级安全合规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8191513" y="475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91500" y="4889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多重防护，全球合规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集成 VPC 网络隔离、KMS 静态加密与 IAM 细粒度权限管控，符合 HIPAA、GDPR 等标准。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AWS ElastiCache：典型应用场景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经典核心场景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464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22400" y="2921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数据库查询结果缓存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缓存高频热点数据，显著减轻数据库压力，将查询延迟从秒级降至毫秒级。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708400"/>
            <a:ext cx="279400" cy="279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22400" y="3683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分布式会话存储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集中化存储用户会话状态，完美支持微服务架构下的多实例会话共享与高可用。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704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22400" y="4445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实时排行榜与计数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利用Sorted Set实现千万级高并发下的实时积分排名、点赞计数与库存扣减。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2324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22400" y="5207000"/>
            <a:ext cx="438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消息队列与发布订阅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基于Pub/Sub模式实现业务解耦、实时通知，或作为轻量级任务队列处理异步作业。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生成式 AI 赋能新场景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29464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83400" y="2921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语义缓存 (Semantic Caching)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通过向量相似度匹配，缓存相似LLM查询的响应结果，避免重复的昂贵推理计算，大幅降低AI服务成本。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39624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83400" y="3937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RAG 架构的向量知识库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作为高性能向量存储层，为检索增强生成(RAG)提供毫秒级的知识库召回，有效解决大模型“幻觉”问题。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9784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83400" y="4953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智能体记忆 (Agentic Memory)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为AI Agent提供短期对话记忆与长期经验记忆的快速存取，支撑复杂的多轮交互与自主决策能力。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核心架构：去中心化设计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55" r="255"/>
          <a:stretch>
            <a:fillRect/>
          </a:stretch>
        </p:blipFill>
        <p:spPr>
          <a:xfrm>
            <a:off x="762000" y="1778000"/>
            <a:ext cx="3556000" cy="289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953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典型的三主三从拓扑结构，通过节点间的 Gossip 协议进行通信，确保集群元数据的实时同步与一致性。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778000"/>
            <a:ext cx="6604000" cy="1244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826000" y="1778000"/>
            <a:ext cx="76200" cy="1244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5400" y="1968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740400" y="1879600"/>
            <a:ext cx="565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多主多从，数据分片存储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集群包含多个主节点，每个主节点负责一部分哈希槽（Slot）的数据，从节点作为热备提供副本，支持读写分离，大幅提升吞吐量。</a:t>
            </a:r>
            <a:endParaRPr lang="en-US" sz="1400" b="0" i="0" u="none" strike="noStrike">
              <a:solidFill>
                <a:srgbClr val="444444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826000" y="3238500"/>
            <a:ext cx="6604000" cy="1244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26000" y="3238500"/>
            <a:ext cx="76200" cy="1244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5400" y="3429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740400" y="3340100"/>
            <a:ext cx="565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节点对等，无中心故障点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所有节点地位完全平等，各自保存完整的集群元数据（槽位映射、主从关系），通过 Gossip 协议同步状态，彻底消除了中心化瓶颈。</a:t>
            </a:r>
            <a:endParaRPr lang="en-US" sz="1400" b="0" i="0" u="none" strike="noStrike">
              <a:solidFill>
                <a:srgbClr val="444444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826000" y="4699000"/>
            <a:ext cx="6604000" cy="1244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826000" y="4699000"/>
            <a:ext cx="76200" cy="1244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5400" y="4889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740400" y="4800600"/>
            <a:ext cx="565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智能路由，客户端直连节点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客户端可连接任意节点，若数据不在当前节点，会收到 MOVED/ASK 重定向指令，直接跳转至目标节点，避免了中间节点的性能损耗。</a:t>
            </a:r>
            <a:endParaRPr lang="en-US" sz="1400" b="0" i="0" u="none" strike="noStrike">
              <a:solidFill>
                <a:srgbClr val="444444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通信机制：Gossip 协议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为维护集群元数据的一致性，Redis Cluster 采用类似“流言传播”的 Gossip 协议，通过节点间随机、高频的信息交换，最终让全网达成统一的集群状态视图。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8194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核心运作逻辑：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每个节点定期随机选取少量节点，通过集群总线端口（服务端口+10000）交换状态信息。这种去中心化的传播方式，无需中心协调，既能高效同步数据，又保证了系统的高可用性与横向扩展性。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1275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MEET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826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主动邀请新节点加入集群的“握手”消息，用于建立节点间的通信连接，是新节点融入集群的第一步。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41275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576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PING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57600" y="4826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周期性发送的心跳探测消息，携带自身状态及部分节点的元数据，用于检测节点存活状态并同步集群信息。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41275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627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PONG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62700" y="4826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 PING 或 MEET 的响应消息，也可主动广播以宣告自身状态变更，确认节点的可达性与健康度。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77300" y="4127500"/>
            <a:ext cx="2540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678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FAIL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67800" y="4826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当节点判定某节点已永久下线时，向集群广播此消息，通知所有节点更新失效列表，触发故障转移流程。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数据分片：哈希槽 (Hash Slot)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44" r="244"/>
          <a:stretch>
            <a:fillRect/>
          </a:stretch>
        </p:blipFill>
        <p:spPr>
          <a:xfrm>
            <a:off x="762000" y="1778000"/>
            <a:ext cx="5080000" cy="21844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223000" y="1778000"/>
            <a:ext cx="53340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81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921500" y="1981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全域固定槽位划分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21500" y="23622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将集群键空间预分为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16384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个哈希槽（0-16383），作为数据分片的最小逻辑单元，结构稳定。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3073400"/>
            <a:ext cx="53340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276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3276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哈希取模精准映射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21500" y="36576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通过公式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CRC16(key) % 16384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计算Key归属槽位，算法轻量高效，保障数据在节点间均匀分布。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895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D9001B">
              <a:alpha val="7000"/>
            </a:srgbClr>
          </a:solidFill>
          <a:ln w="12700" cap="flat" cmpd="sng">
            <a:solidFill>
              <a:srgbClr val="D9001B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500" y="5105400"/>
            <a:ext cx="330200" cy="330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5105400"/>
            <a:ext cx="965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为什么选择 16384 这个数字？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79500" y="5562600"/>
            <a:ext cx="1003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这是集群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扩展性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与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网络开销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的最优解。16384个槽仅需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2KB 位图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即可描述，既能满足千级节点的扩容需求，又极大降低了Gossip协议同步槽信息的网络流量，避免成为集群通信的负担。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数据分片：哈希标签与重定向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哈希标签 (Hash Tag)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默认不支持跨槽多键操作，哈希标签通过特定的键命名规则，强制相关 Key 映射到同一哈希槽，从而解决这一限制。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619500"/>
            <a:ext cx="50800" cy="8255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93800" y="3581400"/>
            <a:ext cx="452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核心原理：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若 Key 中包含 `{}` 结构，Redis 仅对花括号包裹的部分计算哈希槽，忽略括号外的所有字符，从而让关联键落在同一节点。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826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49530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应用示例：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SET user:{1001}:name "张三" // 基于 {1001} 计算槽位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SET user:{1001}:age 28 // 同上，确保两Key在同一节点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请求路由与重定向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66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当客户端请求发送至错误节点时，节点会返回重定向指令，引导客户端访问正确的目标节点，保障请求的最终可达性。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6195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7500" y="3784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48500" y="37465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MOVED 永久重定向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表明该槽位已永久迁移至新节点。客户端需更新本地的槽位映射缓存，并向新节点重新发起请求。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826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49911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49530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ASK 临时重定向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槽位处于迁移过程中（临时状态）。客户端需先发送 ASKING 命令，再重试请求，且不更新本地缓存。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高可用机制：故障检测与转移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故障检测：从 PFAIL 到 FAIL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857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主观下线 (PFAIL)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当节点在默认15秒内未收到目标节点的 PONG 响应时，会将其标记为“疑似下线”。这是单个节点的独立判断，仅作为集群共识的基础。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064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客观下线 (FAIL)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当集群中超过半数的主节点都认为某节点处于 PFAIL 状态时，通过 Gossip 协议达成全网共识，正式将其标记为“已下线”，并触发自动故障转移。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自动故障转移：4步无缝切换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8575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D9001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9845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59600" y="2946400"/>
            <a:ext cx="187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延迟参选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从节点等待随机延迟后发起选举，数据越新、复制偏移量越大的节点优先级越高。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90000" y="28575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D9001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7000" y="29845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372600" y="2946400"/>
            <a:ext cx="187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请求投票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向集群内所有主节点广播投票请求，争取它们的选票以获得成为新主的资格。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1275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D9001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2545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59600" y="4216400"/>
            <a:ext cx="187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投票当选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获得超过半数主节点的赞成票后，该从节点胜出，正式晋升为新的主节点。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0" y="41275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D9001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17000" y="42545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372600" y="4216400"/>
            <a:ext cx="1879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角色切换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新主接管原主的所有哈希槽，开始处理客户端请求，集群快速恢复服务可用性。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588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5715000"/>
            <a:ext cx="1028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</a:t>
            </a:r>
            <a:r>
              <a:rPr lang="en-US" sz="1400" b="0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的高可用机制完全去中心化，无需依赖外部哨兵组件。从故障检测到自动切换，整个过程自动化完成且速度极快，有效保障了系统在节点故障时的服务连续性，是构建高可靠分布式缓存的基石。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总结：优缺点与适用场景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716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核心优势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691">
            <a:off x="965214" y="25336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65200" y="2730500"/>
            <a:ext cx="2971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弹性水平扩展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支持在线增删节点，流量自动重分片，轻松应对业务规模的快速增长。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3556000"/>
            <a:ext cx="2971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原生高可用架构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去中心化设计无单点故障，主节点故障秒级自动转移，无需外部组件。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65200" y="4381500"/>
            <a:ext cx="2971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极致读写性能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客户端直连数据节点，无中间代理性能损耗，智能路由实现低延迟访问。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65200" y="5207000"/>
            <a:ext cx="29718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自动数据分片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哈希槽机制均匀分布数据，避免单机瓶颈，最大化集群存储资源。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06900" y="1778000"/>
            <a:ext cx="33782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0100" y="2032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165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局限与挑战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691">
            <a:off x="4610114" y="25336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10100" y="2730500"/>
            <a:ext cx="2971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多键操作受限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默认不支持跨槽多键命令与事务，需在业务层规避或使用哈希标签。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10100" y="3556000"/>
            <a:ext cx="2971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运维复杂度较高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集群的部署、监控、扩缩容及故障排查，对运维人员技术要求更高。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10100" y="4381500"/>
            <a:ext cx="2971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数据一致性风险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异步复制模式下，极端网络分区场景可能导致少量已写入数据丢失。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10100" y="5207000"/>
            <a:ext cx="29718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功能特性裁剪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仅支持单数据库（DB 0），部分Redis高级特性在集群模式下受限。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051800" y="1778000"/>
            <a:ext cx="33782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032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6614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最佳实践场景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691">
            <a:off x="8255014" y="2533650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255000" y="2730500"/>
            <a:ext cx="2971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海量数据存储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数据规模远超单机内存极限，必须利用集群的分布式存储能力来承载。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0" y="3556000"/>
            <a:ext cx="2971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高并发读写负载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应对秒杀、抢购等高QPS场景，通过分片分散压力，提升系统吞吐量。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55000" y="4381500"/>
            <a:ext cx="2971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核心业务高可用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电商、金融等关键系统，要求服务99.99%可用性，杜绝单点故障风险。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55000" y="5207000"/>
            <a:ext cx="29718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弹性业务扩展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9595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业务流量波动剧烈或持续增长，需要快速在线扩容以灵活应对峰值。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 spc="600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感谢聆听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88000" y="5334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通信机制：Gossip 协议详解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协议工作流程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76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67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603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随机通信机制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每个节点每秒随机选取5个最久未通信的节点发送PING消息，构建去中心化的随机连接网络，确保信息传播的广泛性。</a:t>
            </a:r>
            <a:endParaRPr lang="en-US" sz="1300" b="0" i="0" u="none" strike="noStrike">
              <a:solidFill>
                <a:srgbClr val="50505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873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810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超时主动探测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若超过集群超时时间的一半未收到PONG响应，立即主动发送PING探测，实现对节点状态的快速感知与故障发现。</a:t>
            </a:r>
            <a:endParaRPr lang="en-US" sz="1300" b="0" i="0" u="none" strike="noStrike">
              <a:solidFill>
                <a:srgbClr val="50505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889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080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5016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高效信息传播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消息中携带自身槽位映射（Bitmap）及少量其他节点状态，如同涟漪般在集群中快速扩散，最终实现全网状态的一致性同步。</a:t>
            </a:r>
            <a:endParaRPr lang="en-US" sz="1300" b="0" i="0" u="none" strike="noStrike">
              <a:solidFill>
                <a:srgbClr val="50505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核心消息类型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476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2667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794500" y="26670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MEET · 邀请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3111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用于向集群中广播新节点的加入请求，触发节点间的握手流程，是新节点融入集群的第一步。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0" y="2476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80500" y="2667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461500" y="26670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PING · 心跳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3111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周期性的心跳探测包，包含发送节点的状态数据及部分其他节点的状态，维持集群的活跃感知。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318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4508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94500" y="4508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PONG · 响应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953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对PING或MEET的回复，同样携带完整的状态信息，实现双向的信息同步，确保数据的一致性。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0" y="4318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80500" y="4508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461500" y="4508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FAIL · 故障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80500" y="4953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当节点被多数派判定为下线后，由检测节点向全网广播，通知集群剔除故障节点，保障服务可用性。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数据分片：哈希槽迁移与扩缩容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支持在线、平滑地扩缩容，核心机制是哈希槽的迁移。该过程自动化程度高，且对客户端完全透明，无需停机即可完成架构的弹性调整。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76500"/>
            <a:ext cx="52705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667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/ 扩容流程（新增主节点）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302000"/>
            <a:ext cx="279400" cy="279400"/>
          </a:xfrm>
          <a:prstGeom prst="roundRect">
            <a:avLst>
              <a:gd name="adj" fmla="val 0"/>
            </a:avLst>
          </a:prstGeom>
          <a:solidFill>
            <a:srgbClr val="D9001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3020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33500" y="33020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加入节点：</a:t>
            </a:r>
            <a:r>
              <a:rPr lang="en-US" sz="14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执行 `CLUSTER MEET` 命令，将新节点接入集群网络。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873500"/>
            <a:ext cx="279400" cy="279400"/>
          </a:xfrm>
          <a:prstGeom prst="roundRect">
            <a:avLst>
              <a:gd name="adj" fmla="val 0"/>
            </a:avLst>
          </a:prstGeom>
          <a:solidFill>
            <a:srgbClr val="D9001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38735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33500" y="38735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分配槽位：</a:t>
            </a:r>
            <a:r>
              <a:rPr lang="en-US" sz="14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使用 `CLUSTER ADDSLOTS` 将部分哈希槽从旧节点迁移至新节点。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4445000"/>
            <a:ext cx="279400" cy="279400"/>
          </a:xfrm>
          <a:prstGeom prst="roundRect">
            <a:avLst>
              <a:gd name="adj" fmla="val 0"/>
            </a:avLst>
          </a:prstGeom>
          <a:solidFill>
            <a:srgbClr val="D9001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44450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33500" y="44450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数据迁移：</a:t>
            </a:r>
            <a:r>
              <a:rPr lang="en-US" sz="14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集群自动将槽位对应的数据从源节点同步到目标节点。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5016500"/>
            <a:ext cx="279400" cy="279400"/>
          </a:xfrm>
          <a:prstGeom prst="roundRect">
            <a:avLst>
              <a:gd name="adj" fmla="val 0"/>
            </a:avLst>
          </a:prstGeom>
          <a:solidFill>
            <a:srgbClr val="D9001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50165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333500" y="50165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更新映射：</a:t>
            </a:r>
            <a:r>
              <a:rPr lang="en-US" sz="14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广播新的槽位映射表，客户端自动更新路由信息。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86500" y="2476500"/>
            <a:ext cx="52705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667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/ 缩容流程（移除主节点）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3302000"/>
            <a:ext cx="279400" cy="279400"/>
          </a:xfrm>
          <a:prstGeom prst="roundRect">
            <a:avLst>
              <a:gd name="adj" fmla="val 0"/>
            </a:avLst>
          </a:prstGeom>
          <a:solidFill>
            <a:srgbClr val="D9001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33020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0" y="33020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迁出槽位：</a:t>
            </a:r>
            <a:r>
              <a:rPr lang="en-US" sz="14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执行 `CLUSTER SETSLOT` 命令，将该节点所有槽位迁移至其他节点。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4127500"/>
            <a:ext cx="279400" cy="279400"/>
          </a:xfrm>
          <a:prstGeom prst="roundRect">
            <a:avLst>
              <a:gd name="adj" fmla="val 0"/>
            </a:avLst>
          </a:prstGeom>
          <a:solidFill>
            <a:srgbClr val="D9001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41275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58000" y="41275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数据同步：</a:t>
            </a:r>
            <a:r>
              <a:rPr lang="en-US" sz="14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等待槽位数据完全迁移完毕，确保目标节点数据一致。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953000"/>
            <a:ext cx="279400" cy="279400"/>
          </a:xfrm>
          <a:prstGeom prst="roundRect">
            <a:avLst>
              <a:gd name="adj" fmla="val 0"/>
            </a:avLst>
          </a:prstGeom>
          <a:solidFill>
            <a:srgbClr val="D9001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477000" y="4953000"/>
            <a:ext cx="279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858000" y="4953000"/>
            <a:ext cx="444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移除节点：</a:t>
            </a:r>
            <a:r>
              <a:rPr lang="en-US" sz="14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使用 `CLUSTER FORGET` 命令将空槽节点从集群中剔除。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715000"/>
            <a:ext cx="10795000" cy="6985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52500" y="5842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</a:t>
            </a:r>
            <a:r>
              <a:rPr lang="en-US" sz="15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整个扩缩容过程为</a:t>
            </a:r>
            <a:r>
              <a:rPr lang="en-US" sz="1500" b="1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在线无停机操作</a:t>
            </a:r>
            <a:r>
              <a:rPr lang="en-US" sz="15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，对客户端完全透明，既保证了业务的连续性，又实现了架构的弹性伸缩。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数据分片：哈希标签的最佳实践与风险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CDCD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95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最佳实践：精准聚合与粒度控制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597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794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关联数据强制同槽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将同一用户的姓名、年龄、地址等逻辑强关联的Key，通过相同哈希标签映射到同一节点，保障多键事务与原子操作的可行性。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746500"/>
            <a:ext cx="4762500" cy="4572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3835400"/>
            <a:ext cx="463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9001B"/>
                </a:solidFill>
                <a:latin typeface="Roboto Mono"/>
                <a:ea typeface="Roboto Mono"/>
                <a:cs typeface="Roboto Mono"/>
                <a:sym typeface="Roboto Mono"/>
              </a:rPr>
              <a:t>user:{1001}:name / user:{1001}:age / user:{1001}:addr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44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4445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避免标签过度宽泛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严禁使用 {user} 等粗粒度标签，这会导致所有用户数据涌入单节点，完全丧失分片架构的水平扩展能力。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905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CDCD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2095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潜在风险：数据倾斜与单点瓶颈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046">
            <a:off x="6413508" y="2597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794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794500" y="27940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什么是数据倾斜？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大量Key被哈希到同一个槽位，导致该槽位所在节点负载远超其他节点，成为系统的性能瓶颈和单点故障风险点。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3683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94500" y="36830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典型诱因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标签设计不当（如全表共用一个标签）；或业务天然存在“超级热点Key”（如热门商品ID、大促活动Key）。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4635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94500" y="46355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规避策略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精细化标签规则；对热点Key增加随机后缀打散流量；对超热点数据采用本地缓存或读写分离架构。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715000"/>
            <a:ext cx="50800" cy="7620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5816600"/>
            <a:ext cx="1035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核心洞察：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哈希标签是平衡“数据强一致性”与“分布式扩展性”的工具。它不是万能的，其价值取决于标签的设计是否符合业务访问模式，需避免为了使用而使用。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高可用机制：故障转移选举详解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故障转移的核心是一个基于 Raft 算法思想的领导者选举过程，通过多轮投票与优先级判定，在节点故障时快速选出新主，保障集群数据的一致性与服务的高可用性。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73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延迟启动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238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从节点等待随机延迟后参选，避免“惊群效应”。数据越新、同步越完整的节点延迟越短，拥有更高的参选优先级，率先抢占选举先机。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2540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273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请求投票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3238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参选节点向集群内所有主节点广播投票请求，携带自身的日志最新索引与任期信息，证明自己具备成为主节点的资格与数据完整性。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01000" y="2540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91500" y="273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投票规则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91500" y="3238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遵循“先到先得”与“一周期一票”原则。主节点在单个选举周期内仅能投出一票，且只会投给日志更新、数据更完整的请求方。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508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4699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当选条件：过半支持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51816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需获得超过半数主节点（N/2 + 1）的选票才能胜出。这一“多数决”机制从根本上避免了集群“脑裂”问题，确保任意时刻最多只有一个合法主节点，保障数据一致性。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59500" y="45085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0" y="4699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</a:t>
            </a:r>
            <a:r>
              <a:rPr lang="en-US" sz="1600" b="0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角色切换与恢复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51816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新主节点立即接管原主节点的所有哈希槽，向集群广播当选消息；其余从节点自动切换复制源，开始向新主全量或增量同步数据，快速恢复集群的读写能力与冗余备份。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附录：核心配置参数调优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159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21336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cluster-node-timeout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29972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默认值：</a:t>
            </a: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15000 毫秒 (15秒)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作用：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节点故障检测的超时阈值。若节点在此时间内未响应，会被标记为“主观下线”，是集群故障转移机制的基础。</a:t>
            </a:r>
            <a:endParaRPr lang="en-US" sz="1300" b="0" i="0" u="none" strike="noStrike">
              <a:solidFill>
                <a:srgbClr val="525252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建议：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网络不稳定（如跨机房）时调大至30s；低延迟内网环境保持默认，以确保故障快速检测。</a:t>
            </a:r>
            <a:endParaRPr lang="en-US" sz="1300" b="0" i="0" u="none" strike="noStrike">
              <a:solidFill>
                <a:srgbClr val="525252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942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215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65700" y="21336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cluster-migration-barrier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84700" y="2667000"/>
            <a:ext cx="29972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默认值：</a:t>
            </a: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作用：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从节点自动迁移的触发条件。当主节点拥有的从节点数超过该值时，多余的从节点会被迁移到无从节点的主节点，实现高可用负载均衡。</a:t>
            </a:r>
            <a:endParaRPr lang="en-US" sz="1300" b="0" i="0" u="none" strike="noStrike">
              <a:solidFill>
                <a:srgbClr val="525252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建议：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保持默认值1，确保每个主节点至少有一个从节点备份，最大化集群的容错能力，防止单点风险。</a:t>
            </a:r>
            <a:endParaRPr lang="en-US" sz="1300" b="0" i="0" u="none" strike="noStrike">
              <a:solidFill>
                <a:srgbClr val="525252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264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6900" y="2159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597900" y="21336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cluster-require-full-coverage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16900" y="2667000"/>
            <a:ext cx="29972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默认值：</a:t>
            </a: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yes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作用：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集群完整性保护开关。若开启，当16384个槽位未全部分配时，集群将拒绝所有读写请求，进入保护模式。</a:t>
            </a:r>
            <a:endParaRPr lang="en-US" sz="1300" b="0" i="0" u="none" strike="noStrike">
              <a:solidFill>
                <a:srgbClr val="525252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建议：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日常运行保持开启；在扩缩容或故障恢复期间，可临时关闭（设为no），避免因槽位暂缺导致服务中断。</a:t>
            </a:r>
            <a:endParaRPr lang="en-US" sz="1300" b="0" i="0" u="none" strike="noStrike">
              <a:solidFill>
                <a:srgbClr val="525252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2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3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4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5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6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7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8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9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10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11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ags/tag12.xml><?xml version="1.0" encoding="utf-8"?>
<p:tagLst xmlns:p="http://schemas.openxmlformats.org/presentationml/2006/main">
  <p:tag name="KSO_WM_DIAGRAM_VIRTUALLY_FRAME" val="{&quot;height&quot;:95,&quot;left&quot;:430,&quot;top&quot;:175,&quot;width&quot;:483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7450</Words>
  <Application>WPS 演示</Application>
  <PresentationFormat/>
  <Paragraphs>443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Roboto Mono</vt:lpstr>
      <vt:lpstr>Segoe Print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大连瑞得国旅姜莉莉13942612138</cp:lastModifiedBy>
  <cp:revision>1</cp:revision>
  <dcterms:created xsi:type="dcterms:W3CDTF">2026-08-17T14:22:46Z</dcterms:created>
  <dcterms:modified xsi:type="dcterms:W3CDTF">2026-08-17T14:22:46Z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{"Label":"1","ContentProducer":"001191110102MACQD9K64010000","ProduceID":"7674963518806445267","ReservedCode1":"","ContentPropagator":"","PropagateID":"","ReservedCode2":""}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138282BFB76444C4911747F03A25C613_12</vt:lpwstr>
  </property>
</Properties>
</file>