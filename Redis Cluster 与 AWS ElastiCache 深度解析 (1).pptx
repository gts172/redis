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4.svg" ContentType="image/svg+xml"/>
  <Override PartName="/ppt/media/image117.svg" ContentType="image/svg+xml"/>
  <Override PartName="/ppt/media/image119.svg" ContentType="image/svg+xml"/>
  <Override PartName="/ppt/media/image12.svg" ContentType="image/svg+xml"/>
  <Override PartName="/ppt/media/image121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30.svg" ContentType="image/svg+xml"/>
  <Override PartName="/ppt/media/image132.svg" ContentType="image/svg+xml"/>
  <Override PartName="/ppt/media/image135.svg" ContentType="image/svg+xml"/>
  <Override PartName="/ppt/media/image139.svg" ContentType="image/svg+xml"/>
  <Override PartName="/ppt/media/image14.svg" ContentType="image/svg+xml"/>
  <Override PartName="/ppt/media/image141.svg" ContentType="image/svg+xml"/>
  <Override PartName="/ppt/media/image143.svg" ContentType="image/svg+xml"/>
  <Override PartName="/ppt/media/image145.svg" ContentType="image/svg+xml"/>
  <Override PartName="/ppt/media/image148.svg" ContentType="image/svg+xml"/>
  <Override PartName="/ppt/media/image152.svg" ContentType="image/svg+xml"/>
  <Override PartName="/ppt/media/image154.svg" ContentType="image/svg+xml"/>
  <Override PartName="/ppt/media/image158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3.svg" ContentType="image/svg+xml"/>
  <Override PartName="/ppt/media/image66.svg" ContentType="image/svg+xml"/>
  <Override PartName="/ppt/media/image68.svg" ContentType="image/svg+xml"/>
  <Override PartName="/ppt/media/image7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9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86" r:id="rId9"/>
    <p:sldId id="287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33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33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大家好，欢迎参加本次分享。今天我们将深入探讨现代应用架构中至关重要的两个组件：Redis Cluster 和 AWS ElastiCache。我们将从底层原理出发，一步步解析它们的工作机制，并结合实际案例，为大家提供一份从理论到实践的全方位指南。希望通过这次分享，能帮助大家更好地理解和应用分布式缓存技术。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本次分享将分为两个主要部分。第一部分，我们将深入解析 Redis Cluster 的核心原理，包括它的数据分片机制、Gossip 协议以及高可用实现。第二部分，我们将聚焦于 AWS ElastiCache，探讨其在云端的实战应用，包括部署模式选择、核心特性、最佳实践以及成本优化策略。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现在，我们进入第一章，深入探索 Redis Cluster 的内部世界。我们将了解它为何被设计出来，以及它是如何通过一系列精巧的机制来解决单机 Redis 面临的性能、容量和可用性瓶颈的。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首先，我们来看看为什么需要 Redis Cluster。当业务发展到一定阶段，单机 Redis 会遇到容量、性能和可用性三大瓶颈。为了解决这些问题，Redis 部署模式从最初的单机，发展到主从复制，再到哨兵模式。哨兵模式虽然实现了高可用，但数据仍然集中在单个主节点上，容量瓶颈依然存在。而 Redis Cluster 的出现，正是为了从根本上解决分布式问题，通过数据分片实现水平扩展，同时内置了高可用机制。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首先，我们来看看为什么需要 Redis Cluster。当业务发展到一定阶段，单机 Redis 会遇到容量、性能和可用性三大瓶颈。为了解决这些问题，Redis 部署模式从最初的单机，发展到主从复制，再到哨兵模式。哨兵模式虽然实现了高可用，但数据仍然集中在单个主节点上，容量瓶颈依然存在。而 Redis Cluster 的出现，正是为了从根本上解决分布式问题，通过数据分片实现水平扩展，同时内置了高可用机制。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Redis Cluster 实现水平扩展的核心是数据分片，而数据分片的关键就是哈希槽机制。它将所有数据划分为16384个哈希槽，每个Key通过哈希计算确定它属于哪个槽，然后由负责该槽的节点来存储。这种设计的好处是，当我们需要增加或减少节点时，只需要移动槽位，而不是重新分配所有数据，大大简化了扩容操作。选择16384这个数字，是在网络开销、集群规模和压缩效率之间做出的一个最佳平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虽然哈希槽机制很棒，但它带来了一个限制：我们不能直接对不同槽位的Key执行多Key操作。为了解决这个问题，Redis Cluster 提供了哈希标签功能。通过在Key中使用花括号{}，我们可以强制让多个Key的哈希计算只针对括号内的部分，从而确保它们落在同一个槽位上。这在需要原子性操作多个相关Key的场景中非常有用，比如批量更新购物车商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Redis Cluster 是一个去中心化的系统，这意味着没有一个中心节点来管理整个集群。那么节点之间是如何互相了解对方状态的呢？答案是 Gossip 协议。每个节点都会定期向随机选择的其他节点发送PING消息，交换各自的状态信息。这种“流言蜚语”式的传播方式，使得集群元数据能够快速、高效地在整个集群中同步，从而实现了故障检测和集群状态管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高可用性是 Redis Cluster 的另一个核心特性。它通过主从复制和自动故障转移来实现。每个主节点都有对应的从节点作为备份。当一个主节点出现故障时，集群需要能够快速检测到并将其从节点提升为新的主节点。这个过程分为两步：首先是故障检测，节点会先标记某个节点为主观下线，当多数主节点都确认这一点后，就会升级为客观下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旦一个主节点被标记为客观下线，故障转移流程就会启动。它的从节点会发起一场选举，向其他主节点请求投票。获得超过半数投票的从节点将成为新的主节点，并接管原主节点的所有哈希槽。整个过程自动完成，无需人工干预，从而保证了服务的连续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了解了原理，我们来看看如何实际部署一个 Redis Cluster。从 Redis 5.0 版本开始，搭建过程变得非常简单。首先，我们需要在每个节点上修改配置文件，启用集群模式。然后，启动这些节点。最后，使用 redis-cli 提供的 --cluster create 命令，一次性创建整个集群。这个命令会自动分配主从角色和哈希槽，非常方便。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集群搭建完成后，日常的运维工作也很重要。Redis 提供了一系列命令来帮助我们管理集群。比如，我们可以用 check 命令检查集群的健康状态，用 CLUSTER NODES 命令查看所有节点的详细信息。当需要扩容时，可以使用 add-node 命令添加新节点，然后用 reshard 命令手动迁移槽位。这些命令构成了我们日常运维的基础。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在性能方面，Redis Cluster 表现非常出色。一个标准的3主3从集群，吞吐量可以轻松达到每秒18万次以上，并且性能可以随着主节点数量的增加而线性增长。在日常监控中，我们需要关注一些常见的错误。比如 "CLUSTERDOWN" 错误通常意味着集群状态异常，而 "MOVED" 和 "ASK" 错误则是客户端在槽位迁移过程中需要处理的正常情况。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 Redis Cluster 的优缺点。它的优点非常突出：支持水平扩展、高可用、去中心化且性能卓越。但它也有一些缺点，比如对客户端的要求更高，需要处理重定向逻辑；不支持跨槽的多Key操作；运维也相对复杂一些。在选择使用时，我们需要根据具体的业务场景来权衡这些优缺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了解了原生的 Redis Cluster，我们接下来进入第二章，看看在云时代，AWS 是如何通过 ElastiCache 服务来帮助我们更轻松地使用分布式缓存的。我们将从实战的角度，全面了解 ElastiCache 的功能和最佳实践。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首先，什么是 AWS ElastiCache？简单来说，它就是一个托管的 Redis 或 Memcached 服务。这意味着我们不需要自己去购买服务器、安装软件、处理故障和进行日常维护。AWS 会帮我们处理所有这些底层工作。它的核心价值在于极大地简化了运维，同时提供了高性能、高可用和企业级的安全保障。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在使用 ElastiCache 时，我们首先需要选择部署模式。目前有两种选择：无服务器模式和基于节点的模式。无服务器模式提供了极致的简化，无需管理节点，自动扩容，按实际使用付费，非常适合流量不可预测的场景。而基于节点的模式则提供了更精细的控制，适合对性能和成本有严格要求的生产环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ElastiCache 的核心特性首先体现在高可用性和可扩展性上。通过支持多可用区部署和自动故障转移，它可以实现机房级的容灾，确保服务的连续性。在扩展性方面，它支持在线扩缩容，整个过程服务不中断。此外，还提供了数据分层功能，可以将冷数据自动迁移到成本更低的 SSD 上，非常适合存储超大规模的数据集。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安全性是企业级应用的重中之重。ElastiCache 提供了全面的安全特性，包括静态加密、传输中加密、IAM 身份验证和安全组。这些功能确保了我们的数据在存储和传输过程中的安全。同时，它还提供了完善的备份与恢复机制，可以自动或手动创建快照，并在需要时快速恢复，为数据安全提供了坚实的保障。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有效的监控是保障服务稳定运行的关键。ElastiCache 与 AWS CloudWatch 深度集成，自动将所有关键指标发送到 CloudWatch。我们可以轻松地监控缓存命中率、CPU 使用率、网络流量等重要指标，并根据这些指标设置告警，及时发现并解决潜在问题。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理论说了很多，现在我们来动手实践一下。创建一个 ElastiCache 集群非常简单。首先，在 AWS 控制台选择 Redis 引擎和集群模式。然后，配置集群的基本信息，包括名称、引擎版本、节点类型、分片数和副本数。这些配置决定了我们集群的性能和规模。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需要配置连接性和高级设置。在连接性方面，我们需要指定子网组和可用区。在高级设置中，我们可以启用加密、配置安全组、设置自动备份和维护时段。这些都是保障集群安全和稳定运行的重要配置。最后，确认所有信息无误后，点击创建，等待几分钟，一个高可用的 Redis 集群就诞生了。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创建好集群后，如何高效地使用它呢？这里介绍两种经典的缓存设计模式。第一种是 Cache-Aside，也叫懒加载。应用先尝试从缓存读取，读不到再从数据库读，并回写到缓存。这种模式简单高效，适合读多写少的场景。第二种是 Write-Through，写操作会同时更新数据库和缓存，保证了数据的强一致性，但会增加写延迟。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在性能优化方面，有几个关键点需要注意。首先是选择合适的节点类型，AWS 提供了多种实例规格，包括性价比很高的 Graviton2 实例。其次是处理热键问题，如果某个 Key 的访问量特别大，会成为性能瓶颈，需要采取措施分散压力。最后，要合理使用 Redis 的数据结构，避免创建过大的 Key，这会影响性能和内存使用效率。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安全配置同样至关重要。我们应该始终启用静态和传输中的加密，确保数据安全。通过安全组，我们可以严格限制哪些服务器可以访问我们的缓存集群。同时，使用 IAM 进行访问控制，遵循最小权限原则，只给必要的用户和服务授予必要的权限。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ElastiCache 的应用场景非常广泛。最常见的是作为数据库缓存，减轻后端数据库的压力。其次是作为会话存储，在分布式系统中共享用户会话。此外，利用 Redis 丰富的数据结构，我们还可以轻松实现实时排行榜、消息队列、地理位置服务等功能。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继续来看应用案例。我们可以利用 Redis 的 List 或 Pub/Sub 功能来实现轻量级的消息队列，适用于一些对实时性要求不高的场景。另外，Redis 的 Geo 数据类型为我们提供了强大的地理位置处理能力，可以轻松实现“附近的人”这样的功能。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最后，我们来谈谈成本。ElastiCache 提供了多种定价模式，包括按需、预留节点和无服务器。对于稳定的工作负载，购买预留节点可以获得巨大的折扣。此外，选择合适的部署模式、使用性价比更高的 Graviton2 实例，以及启用数据分层，都是有效的成本优化策略。我们可以使用 AWS 定价计算器来估算不同配置下的成本。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总结一下，为什么选择 AWS ElastiCache？因为它能让我们从复杂的运维工作中解放出来，专注于业务创新。它可以让我们在几分钟内快速上线一个高可用的缓存集群，并根据业务需求弹性伸缩。同时，它提供了企业级的安全保障和灵活的成本控制选项。总而言之，ElastiCache 是在 AWS 上构建高性能、可扩展应用的理想选择。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tags" Target="../tags/tag2.xml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1.xml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image" Target="../media/image9.svg"/><Relationship Id="rId16" Type="http://schemas.openxmlformats.org/officeDocument/2006/relationships/image" Target="../media/image8.png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3.xml"/><Relationship Id="rId13" Type="http://schemas.openxmlformats.org/officeDocument/2006/relationships/image" Target="../media/image22.svg"/><Relationship Id="rId12" Type="http://schemas.openxmlformats.org/officeDocument/2006/relationships/image" Target="../media/image21.png"/><Relationship Id="rId11" Type="http://schemas.openxmlformats.org/officeDocument/2006/relationships/image" Target="../media/image20.svg"/><Relationship Id="rId10" Type="http://schemas.openxmlformats.org/officeDocument/2006/relationships/image" Target="../media/image19.png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9.svg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svg"/><Relationship Id="rId8" Type="http://schemas.openxmlformats.org/officeDocument/2006/relationships/image" Target="../media/image43.png"/><Relationship Id="rId7" Type="http://schemas.openxmlformats.org/officeDocument/2006/relationships/image" Target="../media/image42.svg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6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image" Target="../media/image45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tags" Target="../tags/tag15.xml"/><Relationship Id="rId33" Type="http://schemas.openxmlformats.org/officeDocument/2006/relationships/notesSlide" Target="../notesSlides/notesSlide10.xml"/><Relationship Id="rId32" Type="http://schemas.openxmlformats.org/officeDocument/2006/relationships/slideLayout" Target="../slideLayouts/slideLayout12.xml"/><Relationship Id="rId31" Type="http://schemas.openxmlformats.org/officeDocument/2006/relationships/tags" Target="../tags/tag32.xml"/><Relationship Id="rId30" Type="http://schemas.openxmlformats.org/officeDocument/2006/relationships/image" Target="../media/image60.svg"/><Relationship Id="rId3" Type="http://schemas.openxmlformats.org/officeDocument/2006/relationships/tags" Target="../tags/tag14.xml"/><Relationship Id="rId29" Type="http://schemas.openxmlformats.org/officeDocument/2006/relationships/image" Target="../media/image59.png"/><Relationship Id="rId28" Type="http://schemas.openxmlformats.org/officeDocument/2006/relationships/tags" Target="../tags/tag31.xml"/><Relationship Id="rId27" Type="http://schemas.openxmlformats.org/officeDocument/2006/relationships/tags" Target="../tags/tag30.xml"/><Relationship Id="rId26" Type="http://schemas.openxmlformats.org/officeDocument/2006/relationships/tags" Target="../tags/tag29.xml"/><Relationship Id="rId25" Type="http://schemas.openxmlformats.org/officeDocument/2006/relationships/tags" Target="../tags/tag28.xml"/><Relationship Id="rId24" Type="http://schemas.openxmlformats.org/officeDocument/2006/relationships/image" Target="../media/image58.svg"/><Relationship Id="rId23" Type="http://schemas.openxmlformats.org/officeDocument/2006/relationships/image" Target="../media/image57.png"/><Relationship Id="rId22" Type="http://schemas.openxmlformats.org/officeDocument/2006/relationships/tags" Target="../tags/tag27.xml"/><Relationship Id="rId21" Type="http://schemas.openxmlformats.org/officeDocument/2006/relationships/tags" Target="../tags/tag26.xml"/><Relationship Id="rId20" Type="http://schemas.openxmlformats.org/officeDocument/2006/relationships/tags" Target="../tags/tag25.xml"/><Relationship Id="rId2" Type="http://schemas.openxmlformats.org/officeDocument/2006/relationships/tags" Target="../tags/tag13.xml"/><Relationship Id="rId19" Type="http://schemas.openxmlformats.org/officeDocument/2006/relationships/tags" Target="../tags/tag24.xml"/><Relationship Id="rId18" Type="http://schemas.openxmlformats.org/officeDocument/2006/relationships/image" Target="../media/image56.svg"/><Relationship Id="rId17" Type="http://schemas.openxmlformats.org/officeDocument/2006/relationships/image" Target="../media/image55.png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image" Target="../media/image54.svg"/><Relationship Id="rId11" Type="http://schemas.openxmlformats.org/officeDocument/2006/relationships/image" Target="../media/image53.png"/><Relationship Id="rId10" Type="http://schemas.openxmlformats.org/officeDocument/2006/relationships/tags" Target="../tags/tag19.xml"/><Relationship Id="rId1" Type="http://schemas.openxmlformats.org/officeDocument/2006/relationships/image" Target="../media/image5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8.svg"/><Relationship Id="rId8" Type="http://schemas.openxmlformats.org/officeDocument/2006/relationships/image" Target="../media/image67.png"/><Relationship Id="rId7" Type="http://schemas.openxmlformats.org/officeDocument/2006/relationships/image" Target="../media/image66.svg"/><Relationship Id="rId6" Type="http://schemas.openxmlformats.org/officeDocument/2006/relationships/image" Target="../media/image65.png"/><Relationship Id="rId5" Type="http://schemas.openxmlformats.org/officeDocument/2006/relationships/image" Target="../media/image31.svg"/><Relationship Id="rId4" Type="http://schemas.openxmlformats.org/officeDocument/2006/relationships/image" Target="../media/image64.png"/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61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72.svg"/><Relationship Id="rId3" Type="http://schemas.openxmlformats.org/officeDocument/2006/relationships/image" Target="../media/image71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png"/><Relationship Id="rId8" Type="http://schemas.openxmlformats.org/officeDocument/2006/relationships/image" Target="../media/image79.svg"/><Relationship Id="rId7" Type="http://schemas.openxmlformats.org/officeDocument/2006/relationships/image" Target="../media/image78.png"/><Relationship Id="rId6" Type="http://schemas.openxmlformats.org/officeDocument/2006/relationships/image" Target="../media/image31.svg"/><Relationship Id="rId5" Type="http://schemas.openxmlformats.org/officeDocument/2006/relationships/image" Target="../media/image64.png"/><Relationship Id="rId4" Type="http://schemas.openxmlformats.org/officeDocument/2006/relationships/image" Target="../media/image44.svg"/><Relationship Id="rId3" Type="http://schemas.openxmlformats.org/officeDocument/2006/relationships/image" Target="../media/image77.png"/><Relationship Id="rId2" Type="http://schemas.openxmlformats.org/officeDocument/2006/relationships/image" Target="../media/image76.svg"/><Relationship Id="rId18" Type="http://schemas.openxmlformats.org/officeDocument/2006/relationships/notesSlide" Target="../notesSlides/notesSlide14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87.svg"/><Relationship Id="rId15" Type="http://schemas.openxmlformats.org/officeDocument/2006/relationships/image" Target="../media/image86.png"/><Relationship Id="rId14" Type="http://schemas.openxmlformats.org/officeDocument/2006/relationships/image" Target="../media/image85.svg"/><Relationship Id="rId13" Type="http://schemas.openxmlformats.org/officeDocument/2006/relationships/image" Target="../media/image84.png"/><Relationship Id="rId12" Type="http://schemas.openxmlformats.org/officeDocument/2006/relationships/image" Target="../media/image83.svg"/><Relationship Id="rId11" Type="http://schemas.openxmlformats.org/officeDocument/2006/relationships/image" Target="../media/image82.png"/><Relationship Id="rId10" Type="http://schemas.openxmlformats.org/officeDocument/2006/relationships/image" Target="../media/image81.svg"/><Relationship Id="rId1" Type="http://schemas.openxmlformats.org/officeDocument/2006/relationships/image" Target="../media/image7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8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5.svg"/><Relationship Id="rId8" Type="http://schemas.openxmlformats.org/officeDocument/2006/relationships/image" Target="../media/image94.png"/><Relationship Id="rId7" Type="http://schemas.openxmlformats.org/officeDocument/2006/relationships/image" Target="../media/image93.svg"/><Relationship Id="rId6" Type="http://schemas.openxmlformats.org/officeDocument/2006/relationships/image" Target="../media/image92.png"/><Relationship Id="rId5" Type="http://schemas.openxmlformats.org/officeDocument/2006/relationships/image" Target="../media/image79.svg"/><Relationship Id="rId4" Type="http://schemas.openxmlformats.org/officeDocument/2006/relationships/image" Target="../media/image78.png"/><Relationship Id="rId3" Type="http://schemas.openxmlformats.org/officeDocument/2006/relationships/image" Target="../media/image91.svg"/><Relationship Id="rId2" Type="http://schemas.openxmlformats.org/officeDocument/2006/relationships/image" Target="../media/image90.png"/><Relationship Id="rId11" Type="http://schemas.openxmlformats.org/officeDocument/2006/relationships/notesSlide" Target="../notesSlides/notesSlide1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89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png"/><Relationship Id="rId8" Type="http://schemas.openxmlformats.org/officeDocument/2006/relationships/image" Target="../media/image103.svg"/><Relationship Id="rId7" Type="http://schemas.openxmlformats.org/officeDocument/2006/relationships/image" Target="../media/image102.png"/><Relationship Id="rId6" Type="http://schemas.openxmlformats.org/officeDocument/2006/relationships/image" Target="../media/image101.svg"/><Relationship Id="rId5" Type="http://schemas.openxmlformats.org/officeDocument/2006/relationships/image" Target="../media/image100.png"/><Relationship Id="rId4" Type="http://schemas.openxmlformats.org/officeDocument/2006/relationships/image" Target="../media/image99.svg"/><Relationship Id="rId3" Type="http://schemas.openxmlformats.org/officeDocument/2006/relationships/image" Target="../media/image98.png"/><Relationship Id="rId22" Type="http://schemas.openxmlformats.org/officeDocument/2006/relationships/notesSlide" Target="../notesSlides/notesSlide17.x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114.svg"/><Relationship Id="rId2" Type="http://schemas.openxmlformats.org/officeDocument/2006/relationships/image" Target="../media/image97.svg"/><Relationship Id="rId19" Type="http://schemas.openxmlformats.org/officeDocument/2006/relationships/image" Target="../media/image113.png"/><Relationship Id="rId18" Type="http://schemas.openxmlformats.org/officeDocument/2006/relationships/image" Target="../media/image58.svg"/><Relationship Id="rId17" Type="http://schemas.openxmlformats.org/officeDocument/2006/relationships/image" Target="../media/image112.png"/><Relationship Id="rId16" Type="http://schemas.openxmlformats.org/officeDocument/2006/relationships/image" Target="../media/image111.svg"/><Relationship Id="rId15" Type="http://schemas.openxmlformats.org/officeDocument/2006/relationships/image" Target="../media/image110.png"/><Relationship Id="rId14" Type="http://schemas.openxmlformats.org/officeDocument/2006/relationships/image" Target="../media/image109.svg"/><Relationship Id="rId13" Type="http://schemas.openxmlformats.org/officeDocument/2006/relationships/image" Target="../media/image108.png"/><Relationship Id="rId12" Type="http://schemas.openxmlformats.org/officeDocument/2006/relationships/image" Target="../media/image107.svg"/><Relationship Id="rId11" Type="http://schemas.openxmlformats.org/officeDocument/2006/relationships/image" Target="../media/image106.png"/><Relationship Id="rId10" Type="http://schemas.openxmlformats.org/officeDocument/2006/relationships/image" Target="../media/image105.svg"/><Relationship Id="rId1" Type="http://schemas.openxmlformats.org/officeDocument/2006/relationships/image" Target="../media/image96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6.svg"/><Relationship Id="rId4" Type="http://schemas.openxmlformats.org/officeDocument/2006/relationships/image" Target="../media/image65.png"/><Relationship Id="rId3" Type="http://schemas.openxmlformats.org/officeDocument/2006/relationships/image" Target="../media/image95.svg"/><Relationship Id="rId2" Type="http://schemas.openxmlformats.org/officeDocument/2006/relationships/image" Target="../media/image94.png"/><Relationship Id="rId1" Type="http://schemas.openxmlformats.org/officeDocument/2006/relationships/image" Target="../media/image115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8.png"/><Relationship Id="rId8" Type="http://schemas.openxmlformats.org/officeDocument/2006/relationships/image" Target="../media/image95.svg"/><Relationship Id="rId7" Type="http://schemas.openxmlformats.org/officeDocument/2006/relationships/image" Target="../media/image94.png"/><Relationship Id="rId6" Type="http://schemas.openxmlformats.org/officeDocument/2006/relationships/image" Target="../media/image117.svg"/><Relationship Id="rId5" Type="http://schemas.openxmlformats.org/officeDocument/2006/relationships/image" Target="../media/image116.png"/><Relationship Id="rId4" Type="http://schemas.openxmlformats.org/officeDocument/2006/relationships/image" Target="../media/image93.svg"/><Relationship Id="rId3" Type="http://schemas.openxmlformats.org/officeDocument/2006/relationships/image" Target="../media/image92.png"/><Relationship Id="rId2" Type="http://schemas.openxmlformats.org/officeDocument/2006/relationships/image" Target="../media/image44.svg"/><Relationship Id="rId16" Type="http://schemas.openxmlformats.org/officeDocument/2006/relationships/notesSlide" Target="../notesSlides/notesSlide19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23.svg"/><Relationship Id="rId13" Type="http://schemas.openxmlformats.org/officeDocument/2006/relationships/image" Target="../media/image122.png"/><Relationship Id="rId12" Type="http://schemas.openxmlformats.org/officeDocument/2006/relationships/image" Target="../media/image121.svg"/><Relationship Id="rId11" Type="http://schemas.openxmlformats.org/officeDocument/2006/relationships/image" Target="../media/image120.png"/><Relationship Id="rId10" Type="http://schemas.openxmlformats.org/officeDocument/2006/relationships/image" Target="../media/image119.svg"/><Relationship Id="rId1" Type="http://schemas.openxmlformats.org/officeDocument/2006/relationships/image" Target="../media/image77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9.png"/><Relationship Id="rId8" Type="http://schemas.openxmlformats.org/officeDocument/2006/relationships/image" Target="../media/image93.svg"/><Relationship Id="rId7" Type="http://schemas.openxmlformats.org/officeDocument/2006/relationships/image" Target="../media/image92.png"/><Relationship Id="rId6" Type="http://schemas.openxmlformats.org/officeDocument/2006/relationships/image" Target="../media/image25.svg"/><Relationship Id="rId5" Type="http://schemas.openxmlformats.org/officeDocument/2006/relationships/image" Target="../media/image128.png"/><Relationship Id="rId4" Type="http://schemas.openxmlformats.org/officeDocument/2006/relationships/image" Target="../media/image127.svg"/><Relationship Id="rId3" Type="http://schemas.openxmlformats.org/officeDocument/2006/relationships/image" Target="../media/image126.png"/><Relationship Id="rId2" Type="http://schemas.openxmlformats.org/officeDocument/2006/relationships/image" Target="../media/image125.svg"/><Relationship Id="rId14" Type="http://schemas.openxmlformats.org/officeDocument/2006/relationships/notesSlide" Target="../notesSlides/notesSlide20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32.svg"/><Relationship Id="rId11" Type="http://schemas.openxmlformats.org/officeDocument/2006/relationships/image" Target="../media/image131.png"/><Relationship Id="rId10" Type="http://schemas.openxmlformats.org/officeDocument/2006/relationships/image" Target="../media/image130.svg"/><Relationship Id="rId1" Type="http://schemas.openxmlformats.org/officeDocument/2006/relationships/image" Target="../media/image1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3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35.svg"/><Relationship Id="rId5" Type="http://schemas.openxmlformats.org/officeDocument/2006/relationships/image" Target="../media/image134.png"/><Relationship Id="rId4" Type="http://schemas.openxmlformats.org/officeDocument/2006/relationships/image" Target="../media/image44.svg"/><Relationship Id="rId3" Type="http://schemas.openxmlformats.org/officeDocument/2006/relationships/image" Target="../media/image77.png"/><Relationship Id="rId2" Type="http://schemas.openxmlformats.org/officeDocument/2006/relationships/image" Target="../media/image31.svg"/><Relationship Id="rId1" Type="http://schemas.openxmlformats.org/officeDocument/2006/relationships/image" Target="../media/image64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39.svg"/><Relationship Id="rId4" Type="http://schemas.openxmlformats.org/officeDocument/2006/relationships/image" Target="../media/image138.png"/><Relationship Id="rId3" Type="http://schemas.openxmlformats.org/officeDocument/2006/relationships/image" Target="../media/image52.svg"/><Relationship Id="rId2" Type="http://schemas.openxmlformats.org/officeDocument/2006/relationships/image" Target="../media/image137.png"/><Relationship Id="rId1" Type="http://schemas.openxmlformats.org/officeDocument/2006/relationships/image" Target="../media/image136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5.svg"/><Relationship Id="rId5" Type="http://schemas.openxmlformats.org/officeDocument/2006/relationships/image" Target="../media/image144.png"/><Relationship Id="rId4" Type="http://schemas.openxmlformats.org/officeDocument/2006/relationships/image" Target="../media/image143.svg"/><Relationship Id="rId3" Type="http://schemas.openxmlformats.org/officeDocument/2006/relationships/image" Target="../media/image142.png"/><Relationship Id="rId2" Type="http://schemas.openxmlformats.org/officeDocument/2006/relationships/image" Target="../media/image141.svg"/><Relationship Id="rId1" Type="http://schemas.openxmlformats.org/officeDocument/2006/relationships/image" Target="../media/image14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17.svg"/><Relationship Id="rId5" Type="http://schemas.openxmlformats.org/officeDocument/2006/relationships/image" Target="../media/image116.png"/><Relationship Id="rId4" Type="http://schemas.openxmlformats.org/officeDocument/2006/relationships/image" Target="../media/image25.svg"/><Relationship Id="rId3" Type="http://schemas.openxmlformats.org/officeDocument/2006/relationships/image" Target="../media/image128.png"/><Relationship Id="rId2" Type="http://schemas.openxmlformats.org/officeDocument/2006/relationships/image" Target="../media/image95.svg"/><Relationship Id="rId1" Type="http://schemas.openxmlformats.org/officeDocument/2006/relationships/image" Target="../media/image94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49.jpeg"/><Relationship Id="rId6" Type="http://schemas.openxmlformats.org/officeDocument/2006/relationships/image" Target="../media/image148.svg"/><Relationship Id="rId5" Type="http://schemas.openxmlformats.org/officeDocument/2006/relationships/image" Target="../media/image147.png"/><Relationship Id="rId4" Type="http://schemas.openxmlformats.org/officeDocument/2006/relationships/image" Target="../media/image117.svg"/><Relationship Id="rId3" Type="http://schemas.openxmlformats.org/officeDocument/2006/relationships/image" Target="../media/image116.png"/><Relationship Id="rId2" Type="http://schemas.openxmlformats.org/officeDocument/2006/relationships/image" Target="../media/image47.svg"/><Relationship Id="rId1" Type="http://schemas.openxmlformats.org/officeDocument/2006/relationships/image" Target="../media/image146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52.svg"/><Relationship Id="rId4" Type="http://schemas.openxmlformats.org/officeDocument/2006/relationships/image" Target="../media/image151.png"/><Relationship Id="rId3" Type="http://schemas.openxmlformats.org/officeDocument/2006/relationships/image" Target="../media/image31.svg"/><Relationship Id="rId2" Type="http://schemas.openxmlformats.org/officeDocument/2006/relationships/image" Target="../media/image64.png"/><Relationship Id="rId1" Type="http://schemas.openxmlformats.org/officeDocument/2006/relationships/image" Target="../media/image150.jpe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6.jpeg"/><Relationship Id="rId8" Type="http://schemas.openxmlformats.org/officeDocument/2006/relationships/image" Target="../media/image27.svg"/><Relationship Id="rId7" Type="http://schemas.openxmlformats.org/officeDocument/2006/relationships/image" Target="../media/image155.png"/><Relationship Id="rId6" Type="http://schemas.openxmlformats.org/officeDocument/2006/relationships/image" Target="../media/image145.svg"/><Relationship Id="rId5" Type="http://schemas.openxmlformats.org/officeDocument/2006/relationships/image" Target="../media/image144.png"/><Relationship Id="rId4" Type="http://schemas.openxmlformats.org/officeDocument/2006/relationships/image" Target="../media/image127.svg"/><Relationship Id="rId3" Type="http://schemas.openxmlformats.org/officeDocument/2006/relationships/image" Target="../media/image126.png"/><Relationship Id="rId2" Type="http://schemas.openxmlformats.org/officeDocument/2006/relationships/image" Target="../media/image154.svg"/><Relationship Id="rId11" Type="http://schemas.openxmlformats.org/officeDocument/2006/relationships/notesSlide" Target="../notesSlides/notesSlide2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53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7.png"/><Relationship Id="rId8" Type="http://schemas.openxmlformats.org/officeDocument/2006/relationships/image" Target="../media/image44.svg"/><Relationship Id="rId7" Type="http://schemas.openxmlformats.org/officeDocument/2006/relationships/image" Target="../media/image77.png"/><Relationship Id="rId6" Type="http://schemas.openxmlformats.org/officeDocument/2006/relationships/image" Target="../media/image27.svg"/><Relationship Id="rId5" Type="http://schemas.openxmlformats.org/officeDocument/2006/relationships/image" Target="../media/image155.png"/><Relationship Id="rId4" Type="http://schemas.openxmlformats.org/officeDocument/2006/relationships/image" Target="../media/image79.svg"/><Relationship Id="rId3" Type="http://schemas.openxmlformats.org/officeDocument/2006/relationships/image" Target="../media/image78.png"/><Relationship Id="rId2" Type="http://schemas.openxmlformats.org/officeDocument/2006/relationships/image" Target="../media/image154.svg"/><Relationship Id="rId13" Type="http://schemas.openxmlformats.org/officeDocument/2006/relationships/notesSlide" Target="../notesSlides/notesSlide29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59.jpeg"/><Relationship Id="rId10" Type="http://schemas.openxmlformats.org/officeDocument/2006/relationships/image" Target="../media/image158.svg"/><Relationship Id="rId1" Type="http://schemas.openxmlformats.org/officeDocument/2006/relationships/image" Target="../media/image153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1.png"/><Relationship Id="rId1" Type="http://schemas.openxmlformats.org/officeDocument/2006/relationships/image" Target="../media/image16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  <a:alpha val="76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225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与 AWS ElastiCache</a:t>
            </a:r>
            <a:br>
              <a:rPr lang="en-US" sz="52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52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深度解析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3815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635500"/>
            <a:ext cx="1016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60000"/>
            </a:scheme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68500" y="21336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213100"/>
            <a:ext cx="762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193800" y="31242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核心架构：数据分片机制与哈希槽原理详解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721100"/>
            <a:ext cx="762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93800" y="36322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节点通信：去中心化 Gossip 协议与故障发现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229100"/>
            <a:ext cx="762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193800" y="41402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高可用保障：故障转移机制与自动恢复流程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737100"/>
            <a:ext cx="762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193800" y="46482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生产运维：集群部署、扩容缩容与监控指标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5245100"/>
            <a:ext cx="762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193800" y="51562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应用场景：缓存设计模式与热点Key解决方案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60000"/>
            </a:scheme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2032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429500" y="21336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AWS ElastiCache 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291">
            <a:off x="6477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77000" y="3213100"/>
            <a:ext cx="762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654800" y="31242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服务概览：全托管缓存服务优势与适用场景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3721100"/>
            <a:ext cx="762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654800" y="36322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模式选择：Serverless 弹性模式 vs 传统节点集群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4229100"/>
            <a:ext cx="762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54800" y="41402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动手实践：集群创建、网络配置与安全加固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77000" y="4737100"/>
            <a:ext cx="762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654800" y="46482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最佳实践：读写分离架构、备份策略与恢复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77000" y="5245100"/>
            <a:ext cx="762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654800" y="51562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成本优化：预留实例、按需扩容与闲置关停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/>
          <p:nvPr/>
        </p:nvSpPr>
        <p:spPr>
          <a:xfrm>
            <a:off x="762000" y="1016000"/>
            <a:ext cx="317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</a:t>
            </a:r>
            <a:endParaRPr lang="en-US" sz="1100"/>
          </a:p>
        </p:txBody>
      </p:sp>
      <p:sp>
        <p:nvSpPr>
          <p:cNvPr id="8" name="AutoShape 4"/>
          <p:cNvSpPr/>
          <p:nvPr/>
        </p:nvSpPr>
        <p:spPr>
          <a:xfrm>
            <a:off x="762000" y="2794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核心原理解析</a:t>
            </a:r>
            <a:endParaRPr lang="en-US" sz="1100"/>
          </a:p>
        </p:txBody>
      </p:sp>
      <p:sp>
        <p:nvSpPr>
          <p:cNvPr id="9" name="AutoShape 5"/>
          <p:cNvSpPr/>
          <p:nvPr/>
        </p:nvSpPr>
        <p:spPr>
          <a:xfrm>
            <a:off x="762000" y="444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6"/>
          <p:cNvSpPr/>
          <p:nvPr/>
        </p:nvSpPr>
        <p:spPr>
          <a:xfrm>
            <a:off x="762000" y="4826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深入探索去中心化架构的设计精髓，解析哈希槽分区策略与故障自动转移机制，</a:t>
            </a:r>
            <a:br>
              <a:rPr lang="en-US" sz="16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6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从底层原理层面掌握 Redis 分布式集群的高并发支撑与高可用保障。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为什么需要 Redis Cluster？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588" b="588"/>
          <a:stretch>
            <a:fillRect/>
          </a:stretch>
        </p:blipFill>
        <p:spPr>
          <a:xfrm>
            <a:off x="7168515" y="1397000"/>
            <a:ext cx="4318000" cy="2667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168515" y="4452620"/>
            <a:ext cx="4318000" cy="1714500"/>
          </a:xfrm>
          <a:prstGeom prst="roundRect">
            <a:avLst>
              <a:gd name="adj" fmla="val 0"/>
            </a:avLst>
          </a:prstGeom>
          <a:solidFill>
            <a:srgbClr val="D9001B">
              <a:alpha val="7000"/>
            </a:srgbClr>
          </a:solidFill>
          <a:ln w="12700" cap="flat" cmpd="sng">
            <a:solidFill>
              <a:srgbClr val="D9001B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359015" y="4589145"/>
            <a:ext cx="4064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核心洞察：从高可用到分布式</a:t>
            </a:r>
            <a:endParaRPr lang="en-US" sz="1600" b="1" i="0" u="none" strike="noStrike">
              <a:solidFill>
                <a:srgbClr val="D9001B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Sentinel 模式解决了单点故障的高可用问题，但未突破单机容量的物理限制。</a:t>
            </a:r>
            <a:r>
              <a:rPr lang="en-US" sz="13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则从架构层面实现了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数据分片与水平扩展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，是支撑海量数据与高并发业务的终极方案。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08355" y="1651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单机Redis的三大不可逾越瓶颈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738505" y="2210435"/>
            <a:ext cx="1968500" cy="1301115"/>
          </a:xfrm>
          <a:prstGeom prst="roundRect">
            <a:avLst>
              <a:gd name="adj" fmla="val 0"/>
            </a:avLst>
          </a:prstGeom>
          <a:solidFill>
            <a:srgbClr val="F9FAF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0755" y="2289810"/>
            <a:ext cx="279400" cy="279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1290955" y="227711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容量受限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960755" y="2710815"/>
            <a:ext cx="1714500" cy="7658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数据量受限于单机内存大小，TB级海量数据无法存储，扩展成本高且效率低下，难以满足业务增长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2865755" y="2178685"/>
            <a:ext cx="1968500" cy="1334135"/>
          </a:xfrm>
          <a:prstGeom prst="roundRect">
            <a:avLst>
              <a:gd name="adj" fmla="val 0"/>
            </a:avLst>
          </a:prstGeom>
          <a:solidFill>
            <a:srgbClr val="F9FAF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18155" y="2289810"/>
            <a:ext cx="279400" cy="279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3348355" y="227711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性能天花板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3018155" y="2721610"/>
            <a:ext cx="1714500" cy="7054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单节点CPU与网络带宽存在物理上限，面对高并发请求时响应延迟显著增加，难以支撑流量洪峰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4"/>
            </p:custDataLst>
          </p:nvPr>
        </p:nvSpPr>
        <p:spPr>
          <a:xfrm>
            <a:off x="4935855" y="2178685"/>
            <a:ext cx="1968500" cy="1333500"/>
          </a:xfrm>
          <a:prstGeom prst="roundRect">
            <a:avLst>
              <a:gd name="adj" fmla="val 0"/>
            </a:avLst>
          </a:prstGeom>
          <a:solidFill>
            <a:srgbClr val="F9FAF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088255" y="2300605"/>
            <a:ext cx="279400" cy="2794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18"/>
            </p:custDataLst>
          </p:nvPr>
        </p:nvSpPr>
        <p:spPr>
          <a:xfrm>
            <a:off x="5418455" y="2287905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单点风险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9"/>
            </p:custDataLst>
          </p:nvPr>
        </p:nvSpPr>
        <p:spPr>
          <a:xfrm>
            <a:off x="5088255" y="2732405"/>
            <a:ext cx="1714500" cy="6559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单节点故障会直接导致服务不可用，缺乏自动容灾与故障转移机制，严重影响业务连续性与稳定性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8355" y="3683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部署模式演进与痛点迭代</a:t>
            </a:r>
            <a:endParaRPr lang="en-US" sz="1100"/>
          </a:p>
        </p:txBody>
      </p:sp>
      <p:graphicFrame>
        <p:nvGraphicFramePr>
          <p:cNvPr id="21" name="Table 21"/>
          <p:cNvGraphicFramePr>
            <a:graphicFrameLocks noGrp="1"/>
          </p:cNvGraphicFramePr>
          <p:nvPr/>
        </p:nvGraphicFramePr>
        <p:xfrm>
          <a:off x="808355" y="4191000"/>
          <a:ext cx="6096000" cy="165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2349500"/>
                <a:gridCol w="2349500"/>
              </a:tblGrid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991B1B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模式阶段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001B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991B1B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核心能力突破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001B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991B1B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待解关键问题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001B">
                        <a:alpha val="12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单机模式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满足基础缓存读写需求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容量小、性能低、无容灾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主从复制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读写分离，数据热备冗余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写操作集中，故障需手动切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哨兵模式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故障自动转移，实现高可用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数据未分片，容量仍受限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什么是Redis Cluster？</a:t>
            </a:r>
            <a:endParaRPr lang="en-US" sz="1100"/>
          </a:p>
        </p:txBody>
      </p:sp>
      <p:pic>
        <p:nvPicPr>
          <p:cNvPr id="23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52500" y="1656080"/>
            <a:ext cx="1387475" cy="138747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5"/>
          <p:cNvSpPr/>
          <p:nvPr/>
        </p:nvSpPr>
        <p:spPr>
          <a:xfrm>
            <a:off x="2794000" y="1841500"/>
            <a:ext cx="736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是 Redis 官方提供的分布式解决方案，专为突破单节点瓶颈设计。它通过</a:t>
            </a:r>
            <a:r>
              <a:rPr lang="en-US" sz="15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自动分片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实现海量数据存储，利用</a:t>
            </a:r>
            <a:r>
              <a:rPr lang="en-US" sz="15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主从复制与故障转移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保障服务的高可用性，是构建大规模 Redis 集群的标准方式。</a:t>
            </a:r>
            <a:endParaRPr lang="en-US" sz="1100"/>
          </a:p>
        </p:txBody>
      </p:sp>
      <p:sp>
        <p:nvSpPr>
          <p:cNvPr id="25" name="AutoShape 6"/>
          <p:cNvSpPr/>
          <p:nvPr/>
        </p:nvSpPr>
        <p:spPr>
          <a:xfrm>
            <a:off x="762000" y="3302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ap="flat" cmpd="sng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632200"/>
            <a:ext cx="406400" cy="406400"/>
          </a:xfrm>
          <a:prstGeom prst="rect">
            <a:avLst/>
          </a:prstGeom>
        </p:spPr>
      </p:pic>
      <p:sp>
        <p:nvSpPr>
          <p:cNvPr id="27" name="AutoShape 8"/>
          <p:cNvSpPr/>
          <p:nvPr/>
        </p:nvSpPr>
        <p:spPr>
          <a:xfrm>
            <a:off x="1587500" y="34544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水平扩展 (Scalability)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将数据分散存储在多个节点，突破单机内存、算力与网络带宽的物理限制，轻松支撑TB级数据与高并发访问。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8" name="AutoShape 9"/>
          <p:cNvSpPr/>
          <p:nvPr/>
        </p:nvSpPr>
        <p:spPr>
          <a:xfrm>
            <a:off x="6159500" y="3302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ap="flat" cmpd="sng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3632200"/>
            <a:ext cx="406400" cy="406400"/>
          </a:xfrm>
          <a:prstGeom prst="rect">
            <a:avLst/>
          </a:prstGeom>
        </p:spPr>
      </p:pic>
      <p:sp>
        <p:nvSpPr>
          <p:cNvPr id="30" name="AutoShape 11"/>
          <p:cNvSpPr/>
          <p:nvPr/>
        </p:nvSpPr>
        <p:spPr>
          <a:xfrm>
            <a:off x="6985000" y="34544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高可用性 (High Availability)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节点故障时自动检测并触发故障转移，从节点无缝接替主节点提供服务，确保业务连续性，实现“零停机”保障。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1" name="AutoShape 12"/>
          <p:cNvSpPr/>
          <p:nvPr/>
        </p:nvSpPr>
        <p:spPr>
          <a:xfrm>
            <a:off x="762000" y="4699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889500"/>
            <a:ext cx="304800" cy="304800"/>
          </a:xfrm>
          <a:prstGeom prst="rect">
            <a:avLst/>
          </a:prstGeom>
        </p:spPr>
      </p:pic>
      <p:sp>
        <p:nvSpPr>
          <p:cNvPr id="33" name="AutoShape 14"/>
          <p:cNvSpPr/>
          <p:nvPr/>
        </p:nvSpPr>
        <p:spPr>
          <a:xfrm>
            <a:off x="1333500" y="48895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无中心架构</a:t>
            </a:r>
            <a:endParaRPr lang="en-US" sz="1100"/>
          </a:p>
        </p:txBody>
      </p:sp>
      <p:sp>
        <p:nvSpPr>
          <p:cNvPr id="34" name="AutoShape 15"/>
          <p:cNvSpPr/>
          <p:nvPr/>
        </p:nvSpPr>
        <p:spPr>
          <a:xfrm>
            <a:off x="952500" y="53340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所有节点对等，通过Gossip协议通信，无单点故障风险，集群更健壮、易于扩展。</a:t>
            </a:r>
            <a:endParaRPr lang="en-US" sz="1100"/>
          </a:p>
        </p:txBody>
      </p:sp>
      <p:sp>
        <p:nvSpPr>
          <p:cNvPr id="35" name="AutoShape 16"/>
          <p:cNvSpPr/>
          <p:nvPr/>
        </p:nvSpPr>
        <p:spPr>
          <a:xfrm>
            <a:off x="3492500" y="4699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83000" y="4889500"/>
            <a:ext cx="304800" cy="304800"/>
          </a:xfrm>
          <a:prstGeom prst="rect">
            <a:avLst/>
          </a:prstGeom>
        </p:spPr>
      </p:pic>
      <p:sp>
        <p:nvSpPr>
          <p:cNvPr id="37" name="AutoShape 18"/>
          <p:cNvSpPr/>
          <p:nvPr/>
        </p:nvSpPr>
        <p:spPr>
          <a:xfrm>
            <a:off x="4064000" y="48895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16384 哈希槽</a:t>
            </a:r>
            <a:endParaRPr lang="en-US" sz="1100"/>
          </a:p>
        </p:txBody>
      </p:sp>
      <p:sp>
        <p:nvSpPr>
          <p:cNvPr id="38" name="AutoShape 19"/>
          <p:cNvSpPr/>
          <p:nvPr/>
        </p:nvSpPr>
        <p:spPr>
          <a:xfrm>
            <a:off x="3683000" y="53340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数据按键的哈希值映射到固定槽位，每个节点负责部分槽，实现数据的均匀分布与快速定位。</a:t>
            </a:r>
            <a:endParaRPr lang="en-US" sz="1100"/>
          </a:p>
        </p:txBody>
      </p:sp>
      <p:sp>
        <p:nvSpPr>
          <p:cNvPr id="39" name="AutoShape 20"/>
          <p:cNvSpPr/>
          <p:nvPr/>
        </p:nvSpPr>
        <p:spPr>
          <a:xfrm>
            <a:off x="6223000" y="4699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3500" y="4889500"/>
            <a:ext cx="304800" cy="304800"/>
          </a:xfrm>
          <a:prstGeom prst="rect">
            <a:avLst/>
          </a:prstGeom>
        </p:spPr>
      </p:pic>
      <p:sp>
        <p:nvSpPr>
          <p:cNvPr id="41" name="AutoShape 22"/>
          <p:cNvSpPr/>
          <p:nvPr/>
        </p:nvSpPr>
        <p:spPr>
          <a:xfrm>
            <a:off x="6794500" y="48895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主从热备</a:t>
            </a:r>
            <a:endParaRPr lang="en-US" sz="1100"/>
          </a:p>
        </p:txBody>
      </p:sp>
      <p:sp>
        <p:nvSpPr>
          <p:cNvPr id="42" name="AutoShape 23"/>
          <p:cNvSpPr/>
          <p:nvPr/>
        </p:nvSpPr>
        <p:spPr>
          <a:xfrm>
            <a:off x="6413500" y="53340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主节点处理写请求，从节点实时同步数据并提供读服务，既实现数据冗余备份，又支持读写分离。</a:t>
            </a:r>
            <a:endParaRPr lang="en-US" sz="1100"/>
          </a:p>
        </p:txBody>
      </p:sp>
      <p:sp>
        <p:nvSpPr>
          <p:cNvPr id="43" name="AutoShape 24"/>
          <p:cNvSpPr/>
          <p:nvPr/>
        </p:nvSpPr>
        <p:spPr>
          <a:xfrm>
            <a:off x="8953500" y="4699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4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44000" y="4889500"/>
            <a:ext cx="304800" cy="304800"/>
          </a:xfrm>
          <a:prstGeom prst="rect">
            <a:avLst/>
          </a:prstGeom>
        </p:spPr>
      </p:pic>
      <p:sp>
        <p:nvSpPr>
          <p:cNvPr id="45" name="AutoShape 26"/>
          <p:cNvSpPr/>
          <p:nvPr/>
        </p:nvSpPr>
        <p:spPr>
          <a:xfrm>
            <a:off x="9525000" y="48895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自动容灾</a:t>
            </a:r>
            <a:endParaRPr lang="en-US" sz="1100"/>
          </a:p>
        </p:txBody>
      </p:sp>
      <p:sp>
        <p:nvSpPr>
          <p:cNvPr id="46" name="AutoShape 27"/>
          <p:cNvSpPr/>
          <p:nvPr/>
        </p:nvSpPr>
        <p:spPr>
          <a:xfrm>
            <a:off x="9144000" y="53340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当主节点宕机时，集群自动将其从节点选举为新主节点，无需人工干预，恢复时间极短。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核心原理：数据分片与哈希槽</a:t>
            </a:r>
            <a:r>
              <a:rPr lang="zh-CN" alt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（</a:t>
            </a:r>
            <a:r>
              <a:rPr lang="en-US" altLang="zh-CN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Hash Slot</a:t>
            </a:r>
            <a:r>
              <a:rPr lang="zh-CN" alt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哈希槽核心机制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482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将键空间划分为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16384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个哈希槽（0-16383）。通过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CRC16(key) % 16384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计算 Key 归属槽位，每个主节点负责一部分连续槽位。这种设计实现了数据与节点的解耦，让集群扩容或缩容时，仅需迁移槽位而无需重构全局映射，极大提升了运维灵活性。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rcRect l="79" r="79"/>
          <a:stretch>
            <a:fillRect/>
          </a:stretch>
        </p:blipFill>
        <p:spPr>
          <a:xfrm>
            <a:off x="6350000" y="1524000"/>
            <a:ext cx="5334000" cy="2286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762000" y="4318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0FDF4">
              <a:alpha val="7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508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33500" y="45085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低网络通信开销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9530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槽位信息通过仅 2KB 大小的 Bitmap 结构在节点间传播，完美适配 Gossip 协议的心跳机制，极大降低了集群内部的通信带宽消耗。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18000" y="4318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0FDF4">
              <a:alpha val="7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8500" y="4508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889500" y="45085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支持海量节点规模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08500" y="49530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16384 个槽位足以支撑超过 1000 个主节点的超大规模集群，为应对业务爆发式增长提供了充足的水平扩展空间。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874000" y="4318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0FDF4">
              <a:alpha val="7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64500" y="4508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445500" y="45085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极致的元数据效率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64500" y="49530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在中小规模集群中避免了元数据的过度冗余，同时保证了数据分片的均匀性。这种设计平衡了内存占用与分片灵活性。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核心原理：</a:t>
            </a: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哈希标签 (Hash Tag)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257935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14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803400"/>
            <a:ext cx="952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核心机制：打破跨槽操作限制</a:t>
            </a:r>
            <a:endParaRPr lang="en-US" sz="1800" b="1" i="0" u="none" strike="noStrike">
              <a:solidFill>
                <a:srgbClr val="22C55E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禁止直接对不同槽位的 Key 执行 `MGET`/`MSET` 等多 Key 命令。哈希标签通过特殊语法强制多个 Key 映射至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同一哈希槽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，从而支持原子性的批量操作。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298825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89325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98600" y="3489325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匹配规则：聚焦括号内字符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933825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若 Key 中包含 `{}`，Redis 将</a:t>
            </a:r>
            <a:r>
              <a:rPr lang="en-US" sz="1400" b="1" i="0" u="none" strike="noStrike">
                <a:solidFill>
                  <a:srgbClr val="EF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仅对大括号内部的字符串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进行 CRC16 哈希计算。这一规则确保了只要括号内的内容相同，无论外部如何变化，这些 Key 都会被分配到同一个槽位。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3298825"/>
            <a:ext cx="52070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3489325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59600" y="3489325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效果对比：从分散到聚合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3933825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❌ 常规：`user:1000:name` 与 `user:1000:age` 分属不同槽位，无法批量操作。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✅ 标签：`{user:1000}:name` 与 `{user:1000}:age` 强制同槽，支持 `MSET` 原子更新，保证数据一致性。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1.3 核心原理：去中心化通信 - Gossip 协议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256" b="256"/>
          <a:stretch>
            <a:fillRect/>
          </a:stretch>
        </p:blipFill>
        <p:spPr>
          <a:xfrm>
            <a:off x="762000" y="2159000"/>
            <a:ext cx="4064000" cy="3048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207000" y="2159000"/>
            <a:ext cx="31115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7500" y="2349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5778500" y="2349500"/>
            <a:ext cx="2603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双端口分离架构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397500" y="2794000"/>
            <a:ext cx="273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6379端口服务客户端请求，16379端口专用于节点间Gossip消息交换，业务与集群通信互不干扰，保障效率。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509000" y="2159000"/>
            <a:ext cx="31115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99500" y="2349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9080500" y="2349500"/>
            <a:ext cx="2603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四类关键控制消息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699500" y="2794000"/>
            <a:ext cx="273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PING/PONG维持心跳同步；MEET用于新节点握手加入；FAIL广播节点下线，触发集群故障转移机制。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207000" y="3937000"/>
            <a:ext cx="31115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97500" y="4127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778500" y="4127500"/>
            <a:ext cx="2603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随机泛洪高效同步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397500" y="4572000"/>
            <a:ext cx="273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节点每秒随机向5个节点发送PING，携带状态数据。信息呈指数级扩散，确保在海量节点中快速同步。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509000" y="3937000"/>
            <a:ext cx="31115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99500" y="4127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080500" y="4127500"/>
            <a:ext cx="2603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去中心化高可用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699500" y="4572000"/>
            <a:ext cx="273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无中心节点消除了单点故障风险。节点自治检测故障，通过投票机制自动完成主从切换，保障服务连续性。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778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52500" y="59055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核心价值：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Gossip 协议构建了一个自组织的分布式网络，在不依赖中心协调的情况下，实现了高效的故障检测与集群状态同步，是 Redis Cluster 弹性伸缩的基石。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1.4 核心原理：高可用与故障转移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38" b="38"/>
          <a:stretch>
            <a:fillRect/>
          </a:stretch>
        </p:blipFill>
        <p:spPr>
          <a:xfrm>
            <a:off x="762000" y="1778000"/>
            <a:ext cx="4318000" cy="2794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826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图示为典型的一主多从部署架构，Master负责写入，Slave负责读取与备份，保障数据安全与服务吞吐。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1778000"/>
            <a:ext cx="6096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0" y="20066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223000" y="19812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主从复制：读写分离与数据冗余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715000" y="25146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Master节点处理所有写请求并异步同步数据至Slave节点，Slave节点专门处理读请求，实现流量分担。这种机制不仅提升了系统的并发处理能力，更为数据提供了多副本的冗余保障。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461000" y="3873500"/>
            <a:ext cx="6096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0" y="41021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223000" y="40767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故障检测：从“主观”到“客观”的共识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715000" y="4635500"/>
            <a:ext cx="5588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842000" y="4699000"/>
            <a:ext cx="533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主观下线 (PFAIL)：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节点在 `node-timeout` 时限内无法与目标节点通信，单方面将其标记为疑似故障。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715000" y="5397500"/>
            <a:ext cx="5588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842000" y="5461000"/>
            <a:ext cx="533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客观下线 (FAIL)：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当集群中多数Master节点达成共识，通过Gossip协议广播该节点为确定故障，触发转移。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1.4.1 故障转移流程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29" b="29"/>
          <a:stretch>
            <a:fillRect/>
          </a:stretch>
        </p:blipFill>
        <p:spPr>
          <a:xfrm>
            <a:off x="762000" y="1778000"/>
            <a:ext cx="4064000" cy="3352800"/>
          </a:xfrm>
          <a:prstGeom prst="roundRect">
            <a:avLst>
              <a:gd name="adj" fmla="val 454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2705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图示：Redis Sentinel 自动化故障转移机制，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涵盖从故障检测到角色切换的核心环节。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5334000" y="1714500"/>
            <a:ext cx="6350000" cy="838200"/>
          </a:xfrm>
          <a:prstGeom prst="roundRect">
            <a:avLst>
              <a:gd name="adj" fmla="val 0"/>
            </a:avLst>
          </a:prstGeom>
          <a:solidFill>
            <a:srgbClr val="F0FDF4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5486400" y="1841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1879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6540500" y="1803400"/>
            <a:ext cx="48895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发现故障：客观下线判定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Slave节点通过Gossip协议感知Master节点客观下线（ODOWN），触发故障转移流程。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5334000" y="2616200"/>
            <a:ext cx="6350000" cy="838200"/>
          </a:xfrm>
          <a:prstGeom prst="roundRect">
            <a:avLst>
              <a:gd name="adj" fmla="val 0"/>
            </a:avLst>
          </a:prstGeom>
          <a:solidFill>
            <a:srgbClr val="F0FDF4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5486400" y="27432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96000" y="27813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6540500" y="2705100"/>
            <a:ext cx="48895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发起选举：超时等待后请求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等待FAILOVER_TIMEOUT超时后，候选Slave向集群内其他Master节点发送投票请求包。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5334000" y="3517900"/>
            <a:ext cx="6350000" cy="838200"/>
          </a:xfrm>
          <a:prstGeom prst="roundRect">
            <a:avLst>
              <a:gd name="adj" fmla="val 0"/>
            </a:avLst>
          </a:prstGeom>
          <a:solidFill>
            <a:srgbClr val="F0FDF4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5486400" y="36449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096000" y="3683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6540500" y="3606800"/>
            <a:ext cx="48895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投票选举：遵循多数决原则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存活的Master节点进行投票，严格遵循“一人一票”规则，每个节点仅能投出一票。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5334000" y="4419600"/>
            <a:ext cx="6350000" cy="838200"/>
          </a:xfrm>
          <a:prstGeom prst="roundRect">
            <a:avLst>
              <a:gd name="adj" fmla="val 0"/>
            </a:avLst>
          </a:prstGeom>
          <a:solidFill>
            <a:srgbClr val="F0FDF4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5486400" y="45466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096000" y="45847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6540500" y="4508500"/>
            <a:ext cx="48895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晋升新主：接管核心资源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获超半数选票的Slave正式晋升为新Master，接管原节点的所有哈希槽与数据分片。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26"/>
            </p:custDataLst>
          </p:nvPr>
        </p:nvSpPr>
        <p:spPr>
          <a:xfrm>
            <a:off x="5334000" y="5321300"/>
            <a:ext cx="6350000" cy="838200"/>
          </a:xfrm>
          <a:prstGeom prst="roundRect">
            <a:avLst>
              <a:gd name="adj" fmla="val 0"/>
            </a:avLst>
          </a:prstGeom>
          <a:solidFill>
            <a:srgbClr val="F0FDF4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27"/>
            </p:custDataLst>
          </p:nvPr>
        </p:nvSpPr>
        <p:spPr>
          <a:xfrm>
            <a:off x="5486400" y="54483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05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096000" y="54864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31"/>
            </p:custDataLst>
          </p:nvPr>
        </p:nvSpPr>
        <p:spPr>
          <a:xfrm>
            <a:off x="6540500" y="5410200"/>
            <a:ext cx="48895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状态同步：恢复服务可用性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新Master广播集群配置变更，所有节点更新槽位映射表，客户端流量自动路由至新主。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1.5 部署与运维：集群搭建 (Redis 5.0+)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2032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配置节点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603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修改 `redis.conf` 核心参数，开启集群模式与必要的持久化配置，这是集群搭建的基础。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429000"/>
            <a:ext cx="3048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79500" y="3556000"/>
            <a:ext cx="2857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# 启用集群模式</a:t>
            </a:r>
            <a:b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cluster-enabled yes</a:t>
            </a:r>
            <a:b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# 集群元数据文件</a:t>
            </a:r>
            <a:b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cluster-config-file nodes.conf</a:t>
            </a:r>
            <a:b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# 节点超时时间(ms)</a:t>
            </a:r>
            <a:b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cluster-node-timeout 5000</a:t>
            </a:r>
            <a:b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# 开启AOF持久化</a:t>
            </a:r>
            <a:b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appendonly yes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5461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提示：该配置需在集群内所有节点上同步完成。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778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72000" y="2032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启动实例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2603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在不同服务器或端口上独立启动 Redis 服务进程，确保每个节点都能正常监听连接。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3429000"/>
            <a:ext cx="3048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699000" y="3556000"/>
            <a:ext cx="2857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# 启动命令示例</a:t>
            </a:r>
            <a:b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redis-server /etc/redis/7000.conf</a:t>
            </a:r>
            <a:b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# 检查节点状态</a:t>
            </a:r>
            <a:b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redis-cli -p 7000 ping</a:t>
            </a:r>
            <a:b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# 预期返回 PONG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5461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建议：使用 Systemd 管理 Redis 服务，确保进程保活。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1778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191500" y="2032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集群初始化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91500" y="2603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利用 Redis CLI 的集群创建命令，自动分配主从角色并分片哈希槽，一键构建集群。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91500" y="3429000"/>
            <a:ext cx="3048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318500" y="3556000"/>
            <a:ext cx="2857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# 创建3主3从集群</a:t>
            </a:r>
            <a:b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redis-cli --cluster create \</a:t>
            </a:r>
            <a:b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ip1:7001 ip2:7002 ip3:7003 \</a:t>
            </a:r>
            <a:b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ip1:7004 ip2:7005 ip3:7006 \</a:t>
            </a:r>
            <a:b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--cluster-replicas 1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91500" y="5461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说明：`--cluster-replicas 1` 表示为每个主节点分配一个从节点。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1.5.1 常用运维命令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2076" b="2076"/>
          <a:stretch>
            <a:fillRect/>
          </a:stretch>
        </p:blipFill>
        <p:spPr>
          <a:xfrm>
            <a:off x="762000" y="1778000"/>
            <a:ext cx="4064000" cy="3048000"/>
          </a:xfrm>
          <a:prstGeom prst="rect">
            <a:avLst/>
          </a:prstGeom>
          <a:noFill/>
          <a:ln w="25400" cap="flat" cmpd="sng">
            <a:solidFill>
              <a:srgbClr val="FFFFFF">
                <a:alpha val="6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熟练掌握 Redis 集群的运维命令，是保障服务稳定性、实现弹性扩容与故障排查的基础。通过命令行工具，我们可以快速洞察集群状态并执行关键操作。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207000" y="1778000"/>
            <a:ext cx="3238500" cy="1905000"/>
          </a:xfrm>
          <a:prstGeom prst="roundRect">
            <a:avLst>
              <a:gd name="adj" fmla="val 0"/>
            </a:avLst>
          </a:prstGeom>
          <a:solidFill>
            <a:srgbClr val="ECFCF1">
              <a:alpha val="80000"/>
            </a:srgbClr>
          </a:solidFill>
          <a:ln w="12700" cap="flat" cmpd="sng">
            <a:solidFill>
              <a:srgbClr val="86EFAC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7500" y="2006600"/>
            <a:ext cx="279400" cy="279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778500" y="19812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检查集群健康状态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397500" y="2476500"/>
            <a:ext cx="28575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486400" y="2565400"/>
            <a:ext cx="273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redis-cli --cluster check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{host}:{port}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572500" y="1778000"/>
            <a:ext cx="3238500" cy="1905000"/>
          </a:xfrm>
          <a:prstGeom prst="roundRect">
            <a:avLst>
              <a:gd name="adj" fmla="val 0"/>
            </a:avLst>
          </a:prstGeom>
          <a:solidFill>
            <a:srgbClr val="ECFCF1">
              <a:alpha val="80000"/>
            </a:srgbClr>
          </a:solidFill>
          <a:ln w="12700" cap="flat" cmpd="sng">
            <a:solidFill>
              <a:srgbClr val="86EFAC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0" y="20066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144000" y="19812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查看节点拓扑详情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763000" y="2476500"/>
            <a:ext cx="28575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851900" y="2565400"/>
            <a:ext cx="273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redis-cli CLUSTER NODES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# 列出所有节点ID与状态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207000" y="4064000"/>
            <a:ext cx="3238500" cy="1905000"/>
          </a:xfrm>
          <a:prstGeom prst="roundRect">
            <a:avLst>
              <a:gd name="adj" fmla="val 0"/>
            </a:avLst>
          </a:prstGeom>
          <a:solidFill>
            <a:srgbClr val="ECFCF1">
              <a:alpha val="80000"/>
            </a:srgbClr>
          </a:solidFill>
          <a:ln w="12700" cap="flat" cmpd="sng">
            <a:solidFill>
              <a:srgbClr val="86EFAC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97500" y="4292600"/>
            <a:ext cx="279400" cy="279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778500" y="42672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动态扩容添加节点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397500" y="4762500"/>
            <a:ext cx="28575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486400" y="4851400"/>
            <a:ext cx="273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redis-cli --cluster add-node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new_ip:port old_ip:port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572500" y="4064000"/>
            <a:ext cx="3238500" cy="1905000"/>
          </a:xfrm>
          <a:prstGeom prst="roundRect">
            <a:avLst>
              <a:gd name="adj" fmla="val 0"/>
            </a:avLst>
          </a:prstGeom>
          <a:solidFill>
            <a:srgbClr val="ECFCF1">
              <a:alpha val="80000"/>
            </a:srgbClr>
          </a:solidFill>
          <a:ln w="12700" cap="flat" cmpd="sng">
            <a:solidFill>
              <a:srgbClr val="86EFAC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63000" y="4292600"/>
            <a:ext cx="279400" cy="279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144000" y="42672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数据重分片（迁移槽位）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763000" y="4762500"/>
            <a:ext cx="28575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851900" y="4851400"/>
            <a:ext cx="273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redis-cli --cluster reshard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{host}:{port} # 交互式迁移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1.6 性能与监控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集群性能基准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180,000+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次/秒 (ops/sec)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810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基于标准 3 主 3 从架构，在无代理直连模式下的 GET/SET 吞吐量实测值。性能随 Master 节点数量线性扩展，可通过增加节点轻松应对业务流量洪峰，满足高并发场景需求。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524500"/>
            <a:ext cx="52070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56896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💡 最佳实践：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开启节点间管道化传输，合理设置客户端连接池大小以最大化性能。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0" y="18796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18415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CLUSTERDOWN Hash slot not served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集群不可用，存在未分配的哈希槽。通常因 Master 节点宕机且无 Slave 接替导致，需立即检查节点状态并触发故障转移。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3238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34671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85000" y="34290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MOVED 错误：槽位永久迁移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Key 所在槽位已被分配到其他节点。客户端需更新本地槽位映射表（重定向），并将请求发送至新的目标节点。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4826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50546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50165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ASK 错误：槽位迁移中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槽位正在迁移过程中（临时状态）。客户端需先向目标节点发送 ASKING 命令，再重新执行原命令，无需更新映射表。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1.7 总结：优缺点分析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F0FDF4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核心优势：高扩展与高可用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34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603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565400"/>
            <a:ext cx="438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弹性水平扩展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支持节点的动态增删，线性提升系统的读写吞吐量与存储容量，从容应对业务流量洪峰。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29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390900"/>
            <a:ext cx="438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原生高可用架构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内置故障检测与自动主从切换机制，无需依赖外部哨兵组件，显著提升服务的连续性与稳定性。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254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216400"/>
            <a:ext cx="438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去中心化无瓶颈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无中心节点设计，任意节点均可接收客户端请求，避免了传统主从架构中主节点的单点性能瓶颈。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080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5041900"/>
            <a:ext cx="438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极致的通信性能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客户端直连数据节点，消除了中间代理层的转发开销，保持极低的延迟与极高的并发处理能力。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FFF7ED">
              <a:alpha val="7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1841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97316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局限与挑战：需权衡的特性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6477009" y="234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2603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2565400"/>
            <a:ext cx="438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客户端实现更复杂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需自行处理 MOVED 和 ASK 重定向指令，对客户端 SDK 的智能路由与容错逻辑提出了更高要求。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3429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3390900"/>
            <a:ext cx="438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跨槽操作受限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不支持跨哈希槽的多 Key 批量操作和事务，必须通过业务层拆分或特殊的哈希标签来规避。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7000" y="4254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21500" y="4216400"/>
            <a:ext cx="438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运维与部署复杂度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相比单机模式，集群的部署、节点扩缩容、数据迁移及故障排查的运维成本显著增加。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77000" y="5080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21500" y="5041900"/>
            <a:ext cx="4381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单数据库模式限制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仅支持使用默认的 DB 0，无法像单机版那样利用多数据库来实现简单的业务数据逻辑隔离。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/ 第二章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429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AWS ElastiCache 实战指南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20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基于云原生架构的分布式缓存最佳实践，打造低延迟、高可用的高性能数据层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2.1 什么是 AWS ElastiCache？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33" b="33"/>
          <a:stretch>
            <a:fillRect/>
          </a:stretch>
        </p:blipFill>
        <p:spPr>
          <a:xfrm>
            <a:off x="762000" y="1651000"/>
            <a:ext cx="3302000" cy="2489200"/>
          </a:xfrm>
          <a:prstGeom prst="rect">
            <a:avLst/>
          </a:prstGeom>
          <a:solidFill>
            <a:schemeClr val="tx2"/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445000"/>
            <a:ext cx="355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Amazon ElastiCache 是一项完全托管的内存缓存服务，兼容 Redis 和 Memcached 协议。它旨在简化在云中部署、操作和扩展内存缓存的过程，让您无需操心底层硬件维护，专注于核心业务逻辑的开发与优化。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26000" y="1651000"/>
            <a:ext cx="3365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00" y="1905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537200" y="1879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简化运维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80000" y="2413000"/>
            <a:ext cx="285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自动处理硬件配置、软件补丁、故障检测与自动恢复，大幅减少人工干预，降低基础设施管理的复杂性。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18500" y="1651000"/>
            <a:ext cx="3365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2500" y="1905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029700" y="1879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极致性能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572500" y="2413000"/>
            <a:ext cx="285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提供微秒级低延迟响应，吞吐量可按需弹性扩展，显著提升动态应用的加载速度，优化用户体验。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826000" y="4000500"/>
            <a:ext cx="3365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0000" y="4254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537200" y="4229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高可用性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080000" y="4762500"/>
            <a:ext cx="285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支持多可用区（Multi-AZ）部署与自动故障转移，确保缓存服务的持续在线，保障业务连续性。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4000500"/>
            <a:ext cx="3365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72500" y="42545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029700" y="4229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安全可靠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572500" y="4762500"/>
            <a:ext cx="285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提供静态与传输中数据加密、VPC 网络隔离以及 IAM 精细访问控制，全方位保障缓存数据的安全。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2.2 部署模式选择：Serverless vs. Node-based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Serverless 无服务器缓存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046">
            <a:off x="952508" y="2406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6035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5654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适用场景：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流量不可预测、突发访问波峰或新应用上线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175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33500" y="31369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运维管理：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零管理负担，无需操心节点配置与维护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7465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37084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弹性能力：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毫秒级自动扩缩容，流量低谷自动降配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43180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33500" y="42799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成本优势：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按实际使用量计费，彻底告别闲置资源浪费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159500" y="1651000"/>
            <a:ext cx="52705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B556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0000" y="1841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Node-based 基于节点集群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046">
            <a:off x="6350008" y="2406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B5563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0" y="26035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731000" y="25654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适用场景：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流量稳定、对延迟极度敏感的生产核心环境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0000" y="31750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731000" y="31369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精细管控：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完全掌控节点规格、分片策略及参数调优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0000" y="37465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731000" y="37084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灵活调度：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支持手动或基于策略的 Auto Scaling 扩容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50000" y="43180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731000" y="42799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成本策略：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按节点小时计费，可通过预留实例节省成本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2070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52500" y="5397500"/>
            <a:ext cx="279400" cy="279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1333500" y="53594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首选建议：敏捷开发与波动负载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374151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非常适合MVP验证、短期项目或非核心业务，能最大程度降低运维投入与成本风险。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159500" y="52070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4B5563">
              <a:alpha val="8000"/>
            </a:srgbClr>
          </a:solidFill>
          <a:ln w="12700" cap="flat" cmpd="sng">
            <a:solidFill>
              <a:srgbClr val="4B5563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50000" y="5397500"/>
            <a:ext cx="279400" cy="279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731000" y="53594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首选建议：生产环境与性能敏感业务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374151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适合对延迟、持久性和安全性有极高要求的核心系统，支持自定义备份、监控与合规审计。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2.3 核心特性详解：高可用性与可扩展性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651000"/>
            <a:ext cx="5080000" cy="28575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8895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图示为 ElastiCache 典型部署架构，清晰展示了从用户请求到应用服务器，再到缓存集群与后端数据库的完整数据流向，体现了其高可用的分布式设计。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223000" y="1651000"/>
            <a:ext cx="5334000" cy="1968500"/>
          </a:xfrm>
          <a:prstGeom prst="roundRect">
            <a:avLst>
              <a:gd name="adj" fmla="val 0"/>
            </a:avLst>
          </a:prstGeom>
          <a:solidFill>
            <a:srgbClr val="F0FDF4">
              <a:alpha val="75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7000" y="1841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985000" y="1841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高可用性：极致的服务连续性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3495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多可用区 (Multi-AZ)：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主副本跨机房部署，规避单点风险，实现同城容灾能力。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自动故障转移：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主节点故障时秒级完成副本晋升与DNS更新，应用无需修改配置即可恢复连接。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4000500"/>
            <a:ext cx="5334000" cy="1968500"/>
          </a:xfrm>
          <a:prstGeom prst="roundRect">
            <a:avLst>
              <a:gd name="adj" fmla="val 0"/>
            </a:avLst>
          </a:prstGeom>
          <a:solidFill>
            <a:srgbClr val="F0FDF4">
              <a:alpha val="75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4191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4191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可扩展性：弹性与成本的平衡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46990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在线无感扩缩容：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支持节点规格升级/降级及分片数量动态调整，业务访问零中断。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智能数据分层：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利用 SSD 存储冷数据，显著降低海量数据集的存储成本，兼顾性能与经济性。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2.3.1 核心特性详解：安全性与备份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全方位安全防护体系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400" y="2946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921000"/>
            <a:ext cx="184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静态加密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利用 AWS KMS 密钥对磁盘数据进行高强度加密，从存储层保障数据隐私。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492500" y="27940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4900" y="29464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000500" y="2921000"/>
            <a:ext cx="184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传输中加密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强制启用 TLS 协议，加密客户端与集群间的所有通信，防止中间人窃听。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16000" y="42545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400" y="44069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381500"/>
            <a:ext cx="184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IAM 身份管控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基于策略的精细化权限管理，严格控制谁能创建、修改或删除缓存资源。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492500" y="42545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4900" y="44069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000500" y="4381500"/>
            <a:ext cx="184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虚拟防火墙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配置安全组入站规则，仅允许受信任的 EC2 实例或应用访问集群。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灵活可靠的备份恢复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2794000"/>
            <a:ext cx="4699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29464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12000" y="2921000"/>
            <a:ext cx="400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自动快照备份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支持配置每日自动快照策略，保留期可长达 35 天，实现数据的持续、自动化保护，减少人工负担。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477000" y="3937000"/>
            <a:ext cx="4699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7500" y="40894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2000" y="4064000"/>
            <a:ext cx="400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按需手动备份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支持随时创建手动快照，适用于应用升级、架构变更等关键操作前的数据“冻结”，作为自动备份的有效补充。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477000" y="5080000"/>
            <a:ext cx="4699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67500" y="52324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112000" y="5207000"/>
            <a:ext cx="400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一键数据恢复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可从任意快照快速恢复数据到新的 ElastiCache 集群，迅速恢复业务访问，有效降低故障带来的停机风险。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2.3.2 核心特性详解：监控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ElastiCache 与 AWS CloudWatch 实现无缝深度集成，自动将集群的关键性能指标（KPI）实时推送至监控控制台。通过可视化的图表分析与灵活的告警规则，能够全方位掌握缓存运行状态，为架构优化、容量规划及故障快速定位提供坚实的数据支撑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00" y="29972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71600" y="29718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缓存命中率 (CacheHitRate)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65200" y="34290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衡量缓存有效性的核心指标，数值越高代表缓存越能有效拦截数据库请求，显著降低后端负载并提升应用响应速度。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27940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7400" y="29972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03800" y="29718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CPU 使用率 (CPUUtilization)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97400" y="34290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反映节点的计算负载情况，持续高位（如&gt;80%）通常预示节点过载，需考虑通过分片扩展或升级节点规格来缓解压力。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26400" y="27940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0" y="29972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36000" y="29718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网络吞吐量 (Network I/O)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29600" y="34290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监控节点的数据传输吞吐，异常波动可能暗示业务流量突增、缓存穿透攻击或网络链路的潜在瓶颈。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7625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200" y="49657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71600" y="49403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客户端连接数 (Connections)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65200" y="53975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统计当前活跃的客户端连接数量，需密切关注是否接近节点的最大连接限制，防止因连接耗尽导致服务拒绝。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394200" y="47625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97400" y="49657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003800" y="49403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可用内存 (FreeableMemory)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597400" y="53975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节点剩余的可分配内存空间，内存不足会触发缓存的键值驱逐策略，直接导致命中率下降和数据库压力回升。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026400" y="47625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9600" y="49657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636000" y="49403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A580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智能告警与自动化响应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229600" y="53975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 CloudWatch 配置阈值告警，支持邮件、短信通知，并可联动 Lambda 实现自动扩容或故障自愈，保障服务高可用。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2.4 动手实践：创建 ElastiCache for Redis 集群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选择引擎与集群模式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登录AWS管理控制台进入ElastiCache服务，选择“创建集群”并指定“Redis OSS集群”。根据业务对扩展性的需求，选择启用或禁用集群模式，这是决定后续数据分片能力的基础。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000500"/>
            <a:ext cx="5334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419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配置核心参数与规格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6355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设定集群名称与兼容的Redis版本；依据业务负载特性选择节点类型（如通用型 cache.r6g.large）；合理规划分片数量以支撑高并发，并配置副本节点数保障数据持久性与高可用性。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/>
          <a:srcRect l="31" r="31"/>
          <a:stretch>
            <a:fillRect/>
          </a:stretch>
        </p:blipFill>
        <p:spPr>
          <a:xfrm>
            <a:off x="6477000" y="2032000"/>
            <a:ext cx="5207000" cy="2032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11" name="AutoShape 11"/>
          <p:cNvSpPr/>
          <p:nvPr/>
        </p:nvSpPr>
        <p:spPr>
          <a:xfrm>
            <a:off x="6477000" y="4445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67500" y="46355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💡 实践关键点：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建议启用“集群模式”以获得更高的吞吐量和容量。副本节点不仅提供故障转移能力，还能通过读取副本减轻主节点压力，优化整体响应速度。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2.4.1 动手实践：创建 ElastiCache for Redis 集群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09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2098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配置连接性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984500"/>
            <a:ext cx="28702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子网组配置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选择或创建专属子网组，为缓存节点提供隔离的网络环境，这是集群部署的网络基础。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可用区放置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可选择“无偏好”由系统自动分配，或手动指定多可用区，实现跨AZ容灾，提升服务可用性。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06900" y="1905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06900" y="1905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900" y="22098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68900" y="22098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配置高级设置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609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60900" y="2984500"/>
            <a:ext cx="28702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安全与访问控制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开启静态和传输中加密以保障数据安全；配置安全组规则，仅允许应用服务器访问。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运维与备份策略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启用自动备份并设置保留期，防止数据丢失；指定维护窗口，在业务低峰期进行系统更新。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051800" y="1905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51800" y="1905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2098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13800" y="22098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05 完成集群创建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3058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05800" y="2984500"/>
            <a:ext cx="28702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提交并等待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确认所有配置项无误后，点击“创建”按钮，系统将开始自动部署和配置节点。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验证集群状态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等待几分钟，直至集群状态显示为“可用”，此时即可获取端点信息并进行应用连接测试。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2.5 最佳实践：缓存设计模式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13" b="13"/>
          <a:stretch>
            <a:fillRect/>
          </a:stretch>
        </p:blipFill>
        <p:spPr>
          <a:xfrm>
            <a:off x="2540000" y="1397000"/>
            <a:ext cx="7112000" cy="222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39370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4191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4165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01. Cache-Aside (懒加载模式)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46926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4826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应用优先从缓存读取，未命中时再查询数据库，并将结果回写缓存。实现简单且缓存利用率高，是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读多写少场景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的首选方案，能显著降低数据库的读取负载。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39370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4191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21500" y="4165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02. Write-Through (直写模式)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291">
            <a:off x="6477009" y="46926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4826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写操作同步更新数据库与缓存，确保两者数据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强一致性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。无需处理复杂的缓存失效逻辑，数据可靠性极高，但同步写入会增加操作延迟，适用于对一致性要求严苛的关键业务场景。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2.5.1 最佳实践：性能优化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413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66800" y="3238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匹配最优节点规格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3937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依据业务负载模型选择实例，推荐使用 Graviton2 架构实例，其在相同成本下可提供更高的计算性能与能效比，有效降低单位算力成本。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1700" y="2413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711700" y="3238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分散热键访问压力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711700" y="3937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识别高频访问的热键，防止单点过载。通过本地缓存、二级索引或哈希分片技术，将集中的流量分散至多个节点，消除性能瓶颈。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518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6600" y="2413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356600" y="32385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轻量化数据结构设计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56600" y="3937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拒绝“大Key”设计，合理拆分数据粒度。充分利用 Redis 高效的内置数据结构（如 Hash、List）替代字符串拼接，减少内存占用与IO开销。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8420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89000" y="59182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💡 核心策略：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通过“硬件选型优化 + 流量负载均衡 + 数据结构精细化”的三重组合拳，实现系统吞吐量与响应速度的双重提升。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2.5.2 最佳实践：安全配置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3368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3368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始终启用加密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769">
            <a:off x="1066815" y="3041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66800" y="32385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对静态存储和传输中的数据实施全链路加密，利用SSL/TLS保障传输安全，配合存储加密技术，从源头防止敏感数据泄露或被窃取。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2032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1700" y="23368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95900" y="23368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限制网络访问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769">
            <a:off x="4711715" y="3041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711700" y="32385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通过安全组与网络ACL建立分层防护，仅开放业务必需的端口和IP白名单，严格管控入站流量，拒绝非授权的网络访问请求。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2032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6600" y="23368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940800" y="23368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IAM 权限管控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769">
            <a:off x="8356615" y="3041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56600" y="32385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遵循最小权限原则（PoLP）配置IAM策略，按角色分配必要权限，避免过度授权。结合MFA多因素认证，进一步提升账户访问安全性。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524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56896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💡 核心价值：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构建从数据层、网络层到身份层的纵深防御体系，是保障云原生架构安全、合规与稳健运行的基础防线。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2.6 应用案例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796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8796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数据库缓存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87500" y="23114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针对高频热点查询，将计算结果缓存至内存，大幅减少数据库直接访问，有效降低后端负载，提升系统吞吐量与响应速度。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2766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052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87500" y="35052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会话存储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587500" y="39370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集中管理分布式系统中的用户会话状态，替代传统单机存储方案，确保用户在集群环境下的登录态一致性与无缝迁移。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9022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1308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87500" y="51308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实时排行榜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587500" y="55626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利用 Sorted Set 有序集合特性，实现游戏积分、销售业绩等榜单的毫秒级实时更新，支持快速范围查询与动态排序。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rcRect t="62" b="62"/>
          <a:stretch>
            <a:fillRect/>
          </a:stretch>
        </p:blipFill>
        <p:spPr>
          <a:xfrm>
            <a:off x="6477000" y="2032000"/>
            <a:ext cx="4572000" cy="3048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17" name="AutoShape 17"/>
          <p:cNvSpPr/>
          <p:nvPr/>
        </p:nvSpPr>
        <p:spPr>
          <a:xfrm>
            <a:off x="6477000" y="52705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依托高性能内存存储，轻松应对高并发场景下的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4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数据实时同步与动态展示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2.6.1 应用案例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9" b="9"/>
          <a:stretch>
            <a:fillRect/>
          </a:stretch>
        </p:blipFill>
        <p:spPr>
          <a:xfrm>
            <a:off x="762000" y="1778000"/>
            <a:ext cx="2286000" cy="4064000"/>
          </a:xfrm>
          <a:prstGeom prst="roundRect">
            <a:avLst>
              <a:gd name="adj" fmla="val 8888"/>
            </a:avLst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304800" dist="101600" dir="27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3556000" y="1778000"/>
            <a:ext cx="7874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0800" y="2057400"/>
            <a:ext cx="533400" cy="533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4622800" y="2057400"/>
            <a:ext cx="673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轻量级消息队列构建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860800" y="2667000"/>
            <a:ext cx="711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利用 Redis 的 List 列表结构实现先进先出的消息队列，或通过 Pub/Sub 实现发布/订阅模式。适用于异步任务处理、系统解耦及实时日志收集，能以极低的延迟支撑高并发场景，是构建高性能分布式系统的轻量之选。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56000" y="4191000"/>
            <a:ext cx="7874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60800" y="4470400"/>
            <a:ext cx="533400" cy="533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22800" y="4470400"/>
            <a:ext cx="673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实时地理位置服务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860800" y="5080000"/>
            <a:ext cx="711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 Redis Geo 数据类型，高效处理地理位置计算。轻松实现“附近的人”检索、周边 POI 搜索及同城服务推荐等功能。支持按距离排序与范围筛选，毫秒级响应海量空间数据查询，为社交与本地生活应用提供核心动力。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2.7 成本分析与优化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核心定价模式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17145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25500" y="2286000"/>
            <a:ext cx="1587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6653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按需节点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按小时付费，灵活适配开发测试或短期突发流量，无需长期承诺。</a:t>
            </a:r>
            <a:endParaRPr lang="en-US" sz="12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603500" y="2159000"/>
            <a:ext cx="17145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2667000" y="2286000"/>
            <a:ext cx="1587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6653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预留节点 (RI)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承诺1或3年使用，最高享55%折扣，专为稳态生产工作负载设计。</a:t>
            </a:r>
            <a:endParaRPr lang="en-US" sz="12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2159000"/>
            <a:ext cx="17145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508500" y="2286000"/>
            <a:ext cx="1587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6653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无服务器模式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按实际用量计费，闲置零成本，自动处理流量波峰波谷。</a:t>
            </a:r>
            <a:endParaRPr lang="en-US" sz="12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937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成本优化实战策略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572000"/>
            <a:ext cx="266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4724400"/>
            <a:ext cx="279400" cy="279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219200" y="46355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按需选择部署架构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波动场景选Serverless，稳态业务用预留节点，拒绝资源浪费。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556000" y="4572000"/>
            <a:ext cx="266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0" y="47244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013200" y="46355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选用 Graviton2 实例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基于ARM架构，同规格下相比x86实例可节省约20%的计算成本。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524500"/>
            <a:ext cx="266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5676900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219200" y="55880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启用冷热数据分层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利用R6gd节点本地NVMe存储热点数据，降低长期冷数据开支。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3556000" y="5524500"/>
            <a:ext cx="266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83000" y="5676900"/>
            <a:ext cx="279400" cy="279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013200" y="55880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利用工具精准预估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使用AWS定价计算器模拟配置，提前规划预算，规避隐形消费。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rcRect l="7294" r="7294"/>
          <a:stretch>
            <a:fillRect/>
          </a:stretch>
        </p:blipFill>
        <p:spPr>
          <a:xfrm>
            <a:off x="6604000" y="2159000"/>
            <a:ext cx="5080000" cy="2794000"/>
          </a:xfrm>
          <a:prstGeom prst="roundRect">
            <a:avLst>
              <a:gd name="adj" fmla="val 5454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25" name="AutoShape 25"/>
          <p:cNvSpPr/>
          <p:nvPr/>
        </p:nvSpPr>
        <p:spPr>
          <a:xfrm>
            <a:off x="6604000" y="5143500"/>
            <a:ext cx="508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AWS 定价计算器：成本把控的好帮手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通过可视化界面输入节点规格、数量及使用期限，即可实时生成成本估算表。支持对比多种配置方案，帮助团队在架构设计阶段就做出经济高效的决策，确保成本可控。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2.8 总结：为何选择 ElastiCache？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968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9431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专注业务创新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无需关心底层基础设施的运维琐事，释放团队精力，让研发专注于核心应用开发与业务价值的持续迭代。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77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968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953000" y="19431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分钟级快速上线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2413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告别传统漫长的部署周期，仅需几分钟即可完成高可用缓存集群的创建与配置，即刻响应业务需求。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77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1968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572500" y="19431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按需弹性伸缩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91500" y="2413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根据业务流量潮汐式变化，一键扩展或缩减节点数量与容量，从容应对秒杀、大促等流量洪峰。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937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4127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33500" y="41021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企业级安全合规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572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提供静态加密、传输加密及细粒度 IAM 权限管控，完全满足金融、医疗及政务领域的严格合规要求。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381500" y="3937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0" y="4127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953000" y="41021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灵活高性价比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572000" y="4572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支持按需付费、预留实例等多种模式，配合自动休眠与自动扩缩容策略，有效降低企业运营成本。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01000" y="3937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/>
          <a:srcRect l="310" r="310"/>
          <a:stretch>
            <a:fillRect/>
          </a:stretch>
        </p:blipFill>
        <p:spPr>
          <a:xfrm>
            <a:off x="8699500" y="4127500"/>
            <a:ext cx="2032000" cy="863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8128000" y="5143500"/>
            <a:ext cx="317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构建云端高性能应用的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理想加速引擎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ElastiCache 凭借全托管、高性能与高可用性，成为 AWS 生态中构建低延迟、高并发架构的核心基石。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287000" y="-762000"/>
            <a:ext cx="2286000" cy="2286000"/>
          </a:xfrm>
          <a:prstGeom prst="ellipse">
            <a:avLst/>
          </a:prstGeom>
          <a:solidFill>
            <a:srgbClr val="22C55E">
              <a:alpha val="12000"/>
            </a:srgbClr>
          </a:solidFill>
          <a:ln cap="flat" cmpd="sng">
            <a:solidFill>
              <a:srgbClr val="0CAC47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-1143000" y="5207000"/>
            <a:ext cx="2794000" cy="2794000"/>
          </a:xfrm>
          <a:prstGeom prst="ellipse">
            <a:avLst/>
          </a:prstGeom>
          <a:solidFill>
            <a:srgbClr val="22C55E">
              <a:alpha val="12000"/>
            </a:srgbClr>
          </a:solidFill>
          <a:ln cap="flat" cmpd="sng">
            <a:solidFill>
              <a:srgbClr val="0CAC47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2159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Q&amp;A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3683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Thank You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 spc="300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欢迎随时交流与提问，共同探索更多可能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5.25,&quot;left&quot;:58.15,&quot;top&quot;:171.55,&quot;width&quot;:854.85}"/>
</p:tagLst>
</file>

<file path=ppt/tags/tag2.xml><?xml version="1.0" encoding="utf-8"?>
<p:tagLst xmlns:p="http://schemas.openxmlformats.org/presentationml/2006/main">
  <p:tag name="KSO_WM_DIAGRAM_VIRTUALLY_FRAME" val="{&quot;height&quot;:105.25,&quot;left&quot;:58.15,&quot;top&quot;:171.55,&quot;width&quot;:854.85}"/>
</p:tagLst>
</file>

<file path=ppt/tags/tag3.xml><?xml version="1.0" encoding="utf-8"?>
<p:tagLst xmlns:p="http://schemas.openxmlformats.org/presentationml/2006/main">
  <p:tag name="KSO_WM_DIAGRAM_VIRTUALLY_FRAME" val="{&quot;height&quot;:105.25,&quot;left&quot;:58.15,&quot;top&quot;:171.55,&quot;width&quot;:854.85}"/>
</p:tagLst>
</file>

<file path=ppt/tags/tag4.xml><?xml version="1.0" encoding="utf-8"?>
<p:tagLst xmlns:p="http://schemas.openxmlformats.org/presentationml/2006/main">
  <p:tag name="KSO_WM_DIAGRAM_VIRTUALLY_FRAME" val="{&quot;height&quot;:105.25,&quot;left&quot;:58.15,&quot;top&quot;:171.55,&quot;width&quot;:854.85}"/>
</p:tagLst>
</file>

<file path=ppt/tags/tag5.xml><?xml version="1.0" encoding="utf-8"?>
<p:tagLst xmlns:p="http://schemas.openxmlformats.org/presentationml/2006/main">
  <p:tag name="KSO_WM_DIAGRAM_VIRTUALLY_FRAME" val="{&quot;height&quot;:105.25,&quot;left&quot;:58.15,&quot;top&quot;:171.55,&quot;width&quot;:854.85}"/>
</p:tagLst>
</file>

<file path=ppt/tags/tag6.xml><?xml version="1.0" encoding="utf-8"?>
<p:tagLst xmlns:p="http://schemas.openxmlformats.org/presentationml/2006/main">
  <p:tag name="KSO_WM_DIAGRAM_VIRTUALLY_FRAME" val="{&quot;height&quot;:105.25,&quot;left&quot;:58.15,&quot;top&quot;:171.55,&quot;width&quot;:854.85}"/>
</p:tagLst>
</file>

<file path=ppt/tags/tag7.xml><?xml version="1.0" encoding="utf-8"?>
<p:tagLst xmlns:p="http://schemas.openxmlformats.org/presentationml/2006/main">
  <p:tag name="KSO_WM_DIAGRAM_VIRTUALLY_FRAME" val="{&quot;height&quot;:105.25,&quot;left&quot;:58.15,&quot;top&quot;:171.55,&quot;width&quot;:854.85}"/>
</p:tagLst>
</file>

<file path=ppt/tags/tag8.xml><?xml version="1.0" encoding="utf-8"?>
<p:tagLst xmlns:p="http://schemas.openxmlformats.org/presentationml/2006/main">
  <p:tag name="KSO_WM_DIAGRAM_VIRTUALLY_FRAME" val="{&quot;height&quot;:105.25,&quot;left&quot;:58.15,&quot;top&quot;:171.55,&quot;width&quot;:854.85}"/>
</p:tagLst>
</file>

<file path=ppt/tags/tag9.xml><?xml version="1.0" encoding="utf-8"?>
<p:tagLst xmlns:p="http://schemas.openxmlformats.org/presentationml/2006/main">
  <p:tag name="KSO_WM_DIAGRAM_VIRTUALLY_FRAME" val="{&quot;height&quot;:105.25,&quot;left&quot;:58.15,&quot;top&quot;:171.55,&quot;width&quot;:854.85}"/>
</p:tagLst>
</file>

<file path=ppt/tags/tag10.xml><?xml version="1.0" encoding="utf-8"?>
<p:tagLst xmlns:p="http://schemas.openxmlformats.org/presentationml/2006/main">
  <p:tag name="KSO_WM_DIAGRAM_VIRTUALLY_FRAME" val="{&quot;height&quot;:105.25,&quot;left&quot;:58.15,&quot;top&quot;:171.55,&quot;width&quot;:854.85}"/>
</p:tagLst>
</file>

<file path=ppt/tags/tag11.xml><?xml version="1.0" encoding="utf-8"?>
<p:tagLst xmlns:p="http://schemas.openxmlformats.org/presentationml/2006/main">
  <p:tag name="KSO_WM_DIAGRAM_VIRTUALLY_FRAME" val="{&quot;height&quot;:105.25,&quot;left&quot;:58.15,&quot;top&quot;:171.55,&quot;width&quot;:854.85}"/>
</p:tagLst>
</file>

<file path=ppt/tags/tag12.xml><?xml version="1.0" encoding="utf-8"?>
<p:tagLst xmlns:p="http://schemas.openxmlformats.org/presentationml/2006/main">
  <p:tag name="KSO_WM_DIAGRAM_VIRTUALLY_FRAME" val="{&quot;height&quot;:105.25,&quot;left&quot;:58.15,&quot;top&quot;:171.55,&quot;width&quot;:854.85}"/>
</p:tagLst>
</file>

<file path=ppt/tags/tag13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ags/tag14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ags/tag15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ags/tag16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ags/tag17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ags/tag18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ags/tag19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ags/tag20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ags/tag21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ags/tag22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ags/tag23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ags/tag24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ags/tag25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ags/tag26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ags/tag27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ags/tag28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ags/tag29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ags/tag30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ags/tag31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ags/tag32.xml><?xml version="1.0" encoding="utf-8"?>
<p:tagLst xmlns:p="http://schemas.openxmlformats.org/presentationml/2006/main">
  <p:tag name="KSO_WM_DIAGRAM_VIRTUALLY_FRAME" val="{&quot;height&quot;:350,&quot;left&quot;:420,&quot;top&quot;:135,&quot;width&quot;:50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9356</Words>
  <Application>WPS 演示</Application>
  <PresentationFormat/>
  <Paragraphs>579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30</vt:i4>
      </vt:variant>
    </vt:vector>
  </HeadingPairs>
  <TitlesOfParts>
    <vt:vector size="43" baseType="lpstr">
      <vt:lpstr>Arial</vt:lpstr>
      <vt:lpstr>宋体</vt:lpstr>
      <vt:lpstr>Wingdings</vt:lpstr>
      <vt:lpstr>Arial</vt:lpstr>
      <vt:lpstr>Noto Sans SC</vt:lpstr>
      <vt:lpstr>Roboto Mono</vt:lpstr>
      <vt:lpstr>Segoe Print</vt:lpstr>
      <vt:lpstr>微软雅黑</vt:lpstr>
      <vt:lpstr>Arial Unicode MS</vt:lpstr>
      <vt:lpstr>Roboto Mono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大连瑞得国旅姜莉莉13942612138</cp:lastModifiedBy>
  <cp:revision>1</cp:revision>
  <dcterms:created xsi:type="dcterms:W3CDTF">2026-08-17T14:22:51Z</dcterms:created>
  <dcterms:modified xsi:type="dcterms:W3CDTF">2026-08-17T14:22:51Z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{"Label":"1","ContentProducer":"001191110102MACQD9K64010000","ProduceID":"7674640080464366537","ReservedCode1":"","ContentPropagator":"","PropagateID":"","ReservedCode2":""}</vt:lpwstr>
  </property>
  <property fmtid="{D5CDD505-2E9C-101B-9397-08002B2CF9AE}" pid="3" name="KSOProductBuildVer">
    <vt:lpwstr>2052-12.1.0.28043</vt:lpwstr>
  </property>
  <property fmtid="{D5CDD505-2E9C-101B-9397-08002B2CF9AE}" pid="4" name="ICV">
    <vt:lpwstr>4237666423694D59894C0F5DEDB44149_12</vt:lpwstr>
  </property>
</Properties>
</file>